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66f631e66e04bc6" /><Relationship Type="http://schemas.openxmlformats.org/officeDocument/2006/relationships/extended-properties" Target="/docProps/app.xml" Id="Rc184a89bcd7c4e71" /><Relationship Type="http://schemas.openxmlformats.org/officeDocument/2006/relationships/officeDocument" Target="/ppt/presentation.xml" Id="Rbfba92fb7d4a49b5" /></Relationships>
</file>

<file path=ppt/presentation.xml><?xml version="1.0" encoding="utf-8"?>
<p:presentation xmlns:p="http://schemas.openxmlformats.org/presentationml/2006/main">
  <p:sldMasterIdLst>
    <p:sldMasterId xmlns:r="http://schemas.openxmlformats.org/officeDocument/2006/relationships" id="2147483648" r:id="R64ff8f625e534428"/>
  </p:sldMasterIdLst>
  <p:notesMasterIdLst>
    <p:notesMasterId xmlns:r="http://schemas.openxmlformats.org/officeDocument/2006/relationships" r:id="R4d6204c091214f45"/>
  </p:notesMasterIdLst>
  <p:sldIdLst>
    <p:sldId xmlns:r="http://schemas.openxmlformats.org/officeDocument/2006/relationships" id="256" r:id="R43285f786b5d43e0"/>
    <p:sldId xmlns:r="http://schemas.openxmlformats.org/officeDocument/2006/relationships" id="257" r:id="Ra5f9abe50fb941c5"/>
    <p:sldId xmlns:r="http://schemas.openxmlformats.org/officeDocument/2006/relationships" id="258" r:id="R7571f00227834ba9"/>
    <p:sldId xmlns:r="http://schemas.openxmlformats.org/officeDocument/2006/relationships" id="259" r:id="R4e8031d9f17a40c9"/>
    <p:sldId xmlns:r="http://schemas.openxmlformats.org/officeDocument/2006/relationships" id="260" r:id="Rc20de75dc7d34d48"/>
    <p:sldId xmlns:r="http://schemas.openxmlformats.org/officeDocument/2006/relationships" id="261" r:id="R6d4eab480b544bf5"/>
    <p:sldId xmlns:r="http://schemas.openxmlformats.org/officeDocument/2006/relationships" id="262" r:id="Rc805944ee67f4416"/>
    <p:sldId xmlns:r="http://schemas.openxmlformats.org/officeDocument/2006/relationships" id="263" r:id="R15fd0d433e734a55"/>
    <p:sldId xmlns:r="http://schemas.openxmlformats.org/officeDocument/2006/relationships" id="264" r:id="Ra88c9da1cf944b81"/>
    <p:sldId xmlns:r="http://schemas.openxmlformats.org/officeDocument/2006/relationships" id="265" r:id="R29f3c452a6fa4c75"/>
    <p:sldId xmlns:r="http://schemas.openxmlformats.org/officeDocument/2006/relationships" id="266" r:id="Ra28ed7c4d9ad401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8f1ec359e8cd4d26" /><Relationship Type="http://schemas.openxmlformats.org/officeDocument/2006/relationships/slideMaster" Target="/ppt/slideMasters/slideMaster1.xml" Id="R64ff8f625e534428" /><Relationship Type="http://schemas.openxmlformats.org/officeDocument/2006/relationships/notesMaster" Target="/ppt/notesMasters/notesMaster1.xml" Id="R4d6204c091214f45" /><Relationship Type="http://schemas.openxmlformats.org/officeDocument/2006/relationships/presProps" Target="/ppt/presProps.xml" Id="R1119f7b9b3804cf5" /><Relationship Type="http://schemas.openxmlformats.org/officeDocument/2006/relationships/viewProps" Target="/ppt/viewProps.xml" Id="R3959fb454f3c4fa4" /><Relationship Type="http://schemas.openxmlformats.org/officeDocument/2006/relationships/tableStyles" Target="/ppt/tableStyles.xml" Id="Rd18dd02595584e84" /><Relationship Type="http://schemas.openxmlformats.org/officeDocument/2006/relationships/slide" Target="/ppt/slides/slide1.xml" Id="R43285f786b5d43e0" /><Relationship Type="http://schemas.openxmlformats.org/officeDocument/2006/relationships/slide" Target="/ppt/slides/slide2.xml" Id="Ra5f9abe50fb941c5" /><Relationship Type="http://schemas.openxmlformats.org/officeDocument/2006/relationships/slide" Target="/ppt/slides/slide3.xml" Id="R7571f00227834ba9" /><Relationship Type="http://schemas.openxmlformats.org/officeDocument/2006/relationships/slide" Target="/ppt/slides/slide4.xml" Id="R4e8031d9f17a40c9" /><Relationship Type="http://schemas.openxmlformats.org/officeDocument/2006/relationships/slide" Target="/ppt/slides/slide5.xml" Id="Rc20de75dc7d34d48" /><Relationship Type="http://schemas.openxmlformats.org/officeDocument/2006/relationships/slide" Target="/ppt/slides/slide6.xml" Id="R6d4eab480b544bf5" /><Relationship Type="http://schemas.openxmlformats.org/officeDocument/2006/relationships/slide" Target="/ppt/slides/slide7.xml" Id="Rc805944ee67f4416" /><Relationship Type="http://schemas.openxmlformats.org/officeDocument/2006/relationships/slide" Target="/ppt/slides/slide8.xml" Id="R15fd0d433e734a55" /><Relationship Type="http://schemas.openxmlformats.org/officeDocument/2006/relationships/slide" Target="/ppt/slides/slide9.xml" Id="Ra88c9da1cf944b81" /><Relationship Type="http://schemas.openxmlformats.org/officeDocument/2006/relationships/slide" Target="/ppt/slides/slide10.xml" Id="R29f3c452a6fa4c75" /><Relationship Type="http://schemas.openxmlformats.org/officeDocument/2006/relationships/slide" Target="/ppt/slides/slide11.xml" Id="Ra28ed7c4d9ad40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e054d09b7549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7cc1df9a434784" /><Relationship Type="http://schemas.openxmlformats.org/officeDocument/2006/relationships/notesMaster" Target="/ppt/notesMasters/notesMaster1.xml" Id="Rbcf35502b1dd494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c907869257f40a9" /><Relationship Type="http://schemas.openxmlformats.org/officeDocument/2006/relationships/notesMaster" Target="/ppt/notesMasters/notesMaster1.xml" Id="R3575cb88a5ab41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93628eabf5d44e7" /><Relationship Type="http://schemas.openxmlformats.org/officeDocument/2006/relationships/notesMaster" Target="/ppt/notesMasters/notesMaster1.xml" Id="R194490d505234a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f5049b457844336" /><Relationship Type="http://schemas.openxmlformats.org/officeDocument/2006/relationships/notesMaster" Target="/ppt/notesMasters/notesMaster1.xml" Id="R0f1ec8939fa0439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0bfafc94a246be" /><Relationship Type="http://schemas.openxmlformats.org/officeDocument/2006/relationships/notesMaster" Target="/ppt/notesMasters/notesMaster1.xml" Id="Rc26965f026e14244"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00a6f1a1314e0b" /><Relationship Type="http://schemas.openxmlformats.org/officeDocument/2006/relationships/notesMaster" Target="/ppt/notesMasters/notesMaster1.xml" Id="R27308e76bd604e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b93adf05b6ef4142" /><Relationship Type="http://schemas.openxmlformats.org/officeDocument/2006/relationships/notesMaster" Target="/ppt/notesMasters/notesMaster1.xml" Id="R9272d154f45c4d0a" /></Relationships>
</file>

<file path=ppt/notesSlides/_rels/notesSlide8.xml.rels>&#65279;<?xml version="1.0" encoding="utf-8"?><Relationships xmlns="http://schemas.openxmlformats.org/package/2006/relationships"><Relationship Type="http://schemas.openxmlformats.org/officeDocument/2006/relationships/slide" Target="/ppt/slides/slide8.xml" Id="R9b2b92d68c374dc7" /><Relationship Type="http://schemas.openxmlformats.org/officeDocument/2006/relationships/notesMaster" Target="/ppt/notesMasters/notesMaster1.xml" Id="R9725e2376a714636" /></Relationships>
</file>

<file path=ppt/notesSlides/_rels/notesSlide9.xml.rels>&#65279;<?xml version="1.0" encoding="utf-8"?><Relationships xmlns="http://schemas.openxmlformats.org/package/2006/relationships"><Relationship Type="http://schemas.openxmlformats.org/officeDocument/2006/relationships/slide" Target="/ppt/slides/slide9.xml" Id="Ra2fed812928e41fc" /><Relationship Type="http://schemas.openxmlformats.org/officeDocument/2006/relationships/notesMaster" Target="/ppt/notesMasters/notesMaster1.xml" Id="R47aae7171fe44eb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b1e3b3e8c2046a3" /><Relationship Type="http://schemas.openxmlformats.org/officeDocument/2006/relationships/notesMaster" Target="/ppt/notesMasters/notesMaster1.xml" Id="R03c3129303a943c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8342b2e357645ed" /><Relationship Type="http://schemas.openxmlformats.org/officeDocument/2006/relationships/notesMaster" Target="/ppt/notesMasters/notesMaster1.xml" Id="R77920a68e05a4fd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HitPredict is a historical song hit classification project. This deck covers the dataset, cleaning, preprocessing, model comparison, held-out evaluation and the live demo. Sources: reports/final_model_results.md; src/data/build_dataset.py; src/features/build_features.py; docs/HitPredict_Project_Guide.pdf.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reports/project_report.md Sections 1 and 2; reports/data_quality.csv; README.md. Hits match Billboard Hot 100 identities in the configured 1990 to 2018 window. Negative candidates lack exact matches in the available 1986 to 2018 history, which does not prove they never charted. Final MSD years are 1990 through 2010. The balance is a research sampling choice, not natural release prevalence.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reports/project_report.md Sections 3 and 4; reports/artist_score_audit.csv. Artist Score requires a strictly earlier chart event for the same normalized artist and a different canonical song. Positive reference dates use chart appearances and negatives use January 1 of MSD year, so the feature rule does not prove pre-release availability. Metadata, target, chart rank, peak and weeks on chart remain outside the feature whitelist.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Preprocessing detail: normalize Unicode and case, transliterate accents, remove punctuation and repeated whitespace, and strip configured title-version suffixes. Join only exact canonical artist/title identities. Retain one deterministic row per song. Convert tempo, loudness and duration to numeric values; reject missing/non-finite values and non-positive tempo/duration. Sample the balanced dataset using seed 42. Non-hit labels mean no exact overlap within the available chart history, not proof that a song never charted.
Artist Score uses chart events strictly before the reference date and excludes the same song. For positive songs, the reference date is the first chart appearance within the label window. Negative reference dates approximate release as January 1 of the MSD year. There are no synthetic oversampled examples. Descriptive IQR outlier flags do not remove or clip rows.
Sources: src/features/normalize_names.py; src/data/build_dataset.py; configs/data.yaml; docs/USER2_HANDOFF.md. The preserved table is verified locally, but the unavailable raw sources prevent an independent source rebuild.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numeric pipeline uses SimpleImputer(strategy="median") and optionally StandardScaler. Artist Score passes through as a binary feature. All current model input values are complete and finite, so median imputation does not replace values in the existing dataset. Standardization uses z = (x - mean_training) / std_training. Logistic regression, SVM and the MLP use numeric scaling. Decision trees and random forests do not. The ColumnTransformer drops all non-whitelisted fields. Each preprocessing component is fitted inside the classifier pipeline using that fold's training rows only. Sources: src/features/build_features.py; src/models/train.py; docs/USER2_HANDOFF.md. These preprocessing requirements are described in sections 7 and 8 of docs/HitPredict_Project_Guide.pdf.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artist-disjoint split uses 3,024 training songs and 976 test songs, with zero shared normalized artist keys. Original parameters and preprocessing were fitted on training rows only, using five outer and five inner validation folds. The current deployment was switched to the saved random forest after the original test comparison was reviewed. No new fitting or independent test was performed. Sources: reports/final_model_results.md; models/metadata.json; docs/USER2_HANDOFF.md.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bars show the original frozen models evaluated on the same 976-song artist-disjoint test partition. Random forest achieved the highest observed accuracy, 0.8247950819672131. Its precision is 0.9264305177111716, recall 0.7024793388429752, F1 0.799059929494712 and ROC-AUC 0.8767133642410804. Confusion matrix: TN 465, FP 27, FN 144, TP 340. The forest was selected for deployment after reviewing these results, replacing the earlier historical decision-tree selection. This is not a new independent test. Sources: reports/runs/final_suite_v1/test_metrics.csv; models/metadata.json; reports/final_model_results.md.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Chart coordinates are rounded to 12 decimal places for Excel; AUC labels use the full recorded scores. Empirical curves were reconstructed from the stored original artist-disjoint audio-plus-Artist-Score test scores, with 976 rows per model. No model was refitted and no new independent test was conducted. Random forest ROC-AUC is 0.8767133642410804; neural network is 0.8863006450312437, the highest among the original seven full-feature classifiers. Other AUCs: logistic regression 0.8668, linear SVM 0.8668, RBF SVM 0.8724, polynomial SVM 0.8776, decision tree 0.8747. True positive rate = TP / (TP + FN); false positive rate = FP / (FP + TN). AUC summarizes score discrimination over thresholds, while accuracy measures correct classes at the classifier decision rule. The original forest is deployed for the highest observed accuracy, 82.48%, rather than the highest AUC. Sources: reports/runs/final_suite_v1/test_predictions.csv; reports/runs/final_suite_v1/test_metrics.csv; models/metadata.json.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reports/project_report.md Sections 4 and 8.4. The displayed original test ablation uses the same 976-song artist-disjoint evaluation. Logistic regression: 60.86% audio and 81.45% full. Decision tree: 62.91% audio and 79.20% full. Random forest: 64.55% audio and 82.48% full. Across all seven original families the gain is 14.86 to 20.59 percentage points. Artist Score equals 1 for 70.35% of hits and 6.05% of non-hit candidates. These are sample associations, not causal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CLI and both demo sources load or export the selected original random forest, version random_forest_v1_deployment. The pipeline includes numeric median imputation and binary Artist Score passthrough; tree inputs are not standardized. The classifier contains 300 trees, maximum depth 8, minimum leaf size 5, square-root feature sampling and seed 42. Predictions average class probabilities across the trees; exact probability ties predict non-hit. The recorded primary accuracy is 82.48%. Demo URL: https://hitpredict-demo.streamlit.app/. Publishing the local update to the hosted demo awaits the owner’s explicit permission. Sources: src/inference.py; app/app.py; site/scripts/export_forest_model.py; models/metadata.json.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selected original random forest has the highest observed accuracy in the original test comparison, 82.48%. The promotion followed review of the comparison, without refitting or fresh independent evaluation. Artist Score improves all original classifiers. The dataset is a balanced historical research sample, so the result does not establish future-release accuracy or commercial-success probabilities. Sources: reports/final_model_results.md; models/metadata.json.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cfb4ce8ab848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f24f1900a14b23" /><Relationship Type="http://schemas.openxmlformats.org/officeDocument/2006/relationships/slideLayout" Target="/ppt/slideLayouts/slideLayout1.xml" Id="R68d1531e6252457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d1531e625245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906a68647ff44e9" /><Relationship Type="http://schemas.openxmlformats.org/officeDocument/2006/relationships/notesSlide" Target="/ppt/notesSlides/notesSlide1.xml" Id="Rcb482557076b432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cc3afe5ba374e8f" /><Relationship Type="http://schemas.openxmlformats.org/officeDocument/2006/relationships/chart" Target="/ppt/slides/charts/chart1.xml" Id="R45d70b02f9924a91" /><Relationship Type="http://schemas.openxmlformats.org/officeDocument/2006/relationships/notesSlide" Target="/ppt/notesSlides/notesSlide2.xml" Id="Rb63a713f9bd34d3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e07daa16ca44174" /><Relationship Type="http://schemas.openxmlformats.org/officeDocument/2006/relationships/notesSlide" Target="/ppt/notesSlides/notesSlide3.xml" Id="R23af774491a644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95107da5ed647b1" /><Relationship Type="http://schemas.openxmlformats.org/officeDocument/2006/relationships/notesSlide" Target="/ppt/notesSlides/notesSlide4.xml" Id="R596d50c2f518485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00bf6292b1f4d36" /><Relationship Type="http://schemas.openxmlformats.org/officeDocument/2006/relationships/notesSlide" Target="/ppt/notesSlides/notesSlide5.xml" Id="R557a3883eaac495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1e45a910de74138" /><Relationship Type="http://schemas.openxmlformats.org/officeDocument/2006/relationships/notesSlide" Target="/ppt/notesSlides/notesSlide6.xml" Id="Rf1c6018e6c5d44a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2beca16c8b54f6c" /><Relationship Type="http://schemas.openxmlformats.org/officeDocument/2006/relationships/chart" Target="/ppt/slides/charts/chart2.xml" Id="Rb63011708f0d4ce4" /><Relationship Type="http://schemas.openxmlformats.org/officeDocument/2006/relationships/notesSlide" Target="/ppt/notesSlides/notesSlide7.xml" Id="R348e04abb273446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aded2a063f14b2e" /><Relationship Type="http://schemas.openxmlformats.org/officeDocument/2006/relationships/chart" Target="/ppt/slides/charts/chart3.xml" Id="R1f850cc9a1184061" /><Relationship Type="http://schemas.openxmlformats.org/officeDocument/2006/relationships/notesSlide" Target="/ppt/notesSlides/notesSlide8.xml" Id="R1c000126b20b435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5cf748e19854d41" /><Relationship Type="http://schemas.openxmlformats.org/officeDocument/2006/relationships/chart" Target="/ppt/slides/charts/chart4.xml" Id="R516e197c258f4af8" /><Relationship Type="http://schemas.openxmlformats.org/officeDocument/2006/relationships/notesSlide" Target="/ppt/notesSlides/notesSlide9.xml" Id="R4ac0f9d3aa20457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e7c41276fd34efe" /><Relationship Type="http://schemas.openxmlformats.org/officeDocument/2006/relationships/hyperlink" Target="https://hitpredict-demo.streamlit.app/" TargetMode="External" Id="R23eb07cec3e740b2" /><Relationship Type="http://schemas.openxmlformats.org/officeDocument/2006/relationships/hyperlink" Target="https://hitpredict-demo.streamlit.app/" TargetMode="External" Id="R1dc4088833a448bb" /><Relationship Type="http://schemas.openxmlformats.org/officeDocument/2006/relationships/notesSlide" Target="/ppt/notesSlides/notesSlide10.xml" Id="R53e29b0fdc0a45f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8a20e0e8fd84510" /><Relationship Type="http://schemas.openxmlformats.org/officeDocument/2006/relationships/notesSlide" Target="/ppt/notesSlides/notesSlide11.xml" Id="R8dbbe928cd1c437a" /></Relationships>
</file>

<file path=ppt/slides/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slides/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slides/charts/_rels/chart3.xml.rels><Relationships xmlns="http://schemas.openxmlformats.org/package/2006/relationships"><Relationship Id="rIdChartSnapshot1" Type="http://schemas.openxmlformats.org/officeDocument/2006/relationships/package" Target="../../embeddings/chart-data-snapshot-001.xlsx"/></Relationships>
</file>

<file path=ppt/slides/charts/_rels/chart4.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slides/charts/chart1.xml><?xml version="1.0" encoding="utf-8"?>
<c:chartSpace xmlns:c="http://schemas.openxmlformats.org/drawingml/2006/chart">
  <c:lang val="en-US"/>
  <c:roundedCorners val="1"/>
  <c:style val="2"/>
  <c:chart>
    <c:autoTitleDeleted val="1"/>
    <c:plotArea>
      <c:doughnutChart>
        <c:ser>
          <c:idx val="0"/>
          <c:order val="0"/>
          <c:tx>
            <c:v>Songs</c:v>
          </c:tx>
          <c:dPt>
            <c:idx val="0"/>
            <c:spPr>
              <a:solidFill xmlns:a="http://schemas.openxmlformats.org/drawingml/2006/main">
                <a:srgbClr val="087F70"/>
              </a:solidFill>
            </c:spPr>
          </c:dPt>
          <c:dPt>
            <c:idx val="1"/>
            <c:spPr>
              <a:solidFill xmlns:a="http://schemas.openxmlformats.org/drawingml/2006/main">
                <a:srgbClr val="EFB74D"/>
              </a:solidFill>
            </c:spPr>
          </c:dPt>
          <c:cat>
            <c:strRef>
              <c:f>'Chart Data'!$A$2:$A$3</c:f>
              <c:strCache>
                <c:ptCount val="2"/>
                <c:pt idx="0">
                  <c:v>Hits</c:v>
                </c:pt>
                <c:pt idx="1">
                  <c:v>Non-hit candidates</c:v>
                </c:pt>
              </c:strCache>
            </c:strRef>
          </c:cat>
          <c:val>
            <c:numRef>
              <c:f>'Chart Data'!$B$2:$B$3</c:f>
              <c:numCache>
                <c:formatCode>General</c:formatCode>
                <c:ptCount val="2"/>
                <c:pt idx="0">
                  <c:v>2000</c:v>
                </c:pt>
                <c:pt idx="1">
                  <c:v>2000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firstSliceAng val="270"/>
        <c:holeSize val="68"/>
      </c:doughnutChart>
    </c:plotArea>
    <c:plotVisOnly val="1"/>
  </c:chart>
  <c:spPr>
    <a:solidFill xmlns:a="http://schemas.openxmlformats.org/drawingml/2006/main">
      <a:srgbClr val="F7F8F4"/>
    </a:solidFill>
    <a:ln xmlns:a="http://schemas.openxmlformats.org/drawingml/2006/main" w="0">
      <a:noFill/>
    </a:ln>
  </c:spPr>
  <c:externalData xmlns:ns0="http://schemas.openxmlformats.org/officeDocument/2006/relationships" ns0:id="rId1">
    <c:autoUpdate val="0"/>
  </c:externalData>
</c:chartSpace>
</file>

<file path=ppt/slides/charts/chart2.xml><?xml version="1.0" encoding="utf-8"?>
<c:chartSpace xmlns:c="http://schemas.openxmlformats.org/drawingml/2006/chart">
  <c:lang val="en-US"/>
  <c:roundedCorners val="1"/>
  <c:style val="2"/>
  <c:chart>
    <c:autoTitleDeleted val="1"/>
    <c:plotArea>
      <c:barChart>
        <c:barDir val="bar"/>
        <c:grouping val="clustered"/>
        <c:varyColors val="0"/>
        <c:ser>
          <c:idx val="0"/>
          <c:order val="0"/>
          <c:tx>
            <c:v>Test accuracy</c:v>
          </c:tx>
          <c:spPr>
            <a:solidFill xmlns:a="http://schemas.openxmlformats.org/drawingml/2006/main">
              <a:srgbClr val="087F70"/>
            </a:solidFill>
          </c:spPr>
          <c:dPt>
            <c:idx val="6"/>
            <c:invertIfNegative val="0"/>
            <c:spPr>
              <a:solidFill xmlns:a="http://schemas.openxmlformats.org/drawingml/2006/main">
                <a:srgbClr val="087F70"/>
              </a:solidFill>
            </c:spPr>
          </c:dPt>
          <c:dPt>
            <c:idx val="0"/>
            <c:invertIfNegative val="0"/>
            <c:spPr>
              <a:solidFill xmlns:a="http://schemas.openxmlformats.org/drawingml/2006/main">
                <a:srgbClr val="EFB74D"/>
              </a:solidFill>
            </c:spPr>
          </c:dPt>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650" b="1">
                    <a:solidFill>
                      <a:srgbClr val="15382F"/>
                    </a:solidFill>
                    <a:latin typeface="Arial"/>
                    <a:ea typeface="Arial"/>
                    <a:cs typeface="Arial"/>
                  </a:defRPr>
                </a:pPr>
              </a:p>
            </c:txPr>
            <c:dLblPos val="outEnd"/>
            <c:showLegendKey val="0"/>
            <c:showVal val="1"/>
            <c:showCatName val="0"/>
            <c:showSerName val="0"/>
            <c:showPercent val="0"/>
            <c:showBubbleSize val="0"/>
            <c:showLeaderLines val="0"/>
          </c:dLbls>
          <c:cat>
            <c:strRef>
              <c:f>'Chart Data'!$A$2:$A$8</c:f>
              <c:strCache>
                <c:ptCount val="7"/>
                <c:pt idx="0">
                  <c:v>Random forest</c:v>
                </c:pt>
                <c:pt idx="1">
                  <c:v>Neural network</c:v>
                </c:pt>
                <c:pt idx="2">
                  <c:v>RBF SVM</c:v>
                </c:pt>
                <c:pt idx="3">
                  <c:v>Linear SVM</c:v>
                </c:pt>
                <c:pt idx="4">
                  <c:v>Polynomial SVM</c:v>
                </c:pt>
                <c:pt idx="5">
                  <c:v>Logistic regression</c:v>
                </c:pt>
                <c:pt idx="6">
                  <c:v>Decision tree</c:v>
                </c:pt>
              </c:strCache>
            </c:strRef>
          </c:cat>
          <c:val>
            <c:numRef>
              <c:f>'Chart Data'!$B$2:$B$8</c:f>
              <c:numCache>
                <c:formatCode>0.00%</c:formatCode>
                <c:ptCount val="7"/>
                <c:pt idx="0">
                  <c:v>0.8248</c:v>
                </c:pt>
                <c:pt idx="1">
                  <c:v>0.8207</c:v>
                </c:pt>
                <c:pt idx="2">
                  <c:v>0.8176</c:v>
                </c:pt>
                <c:pt idx="3">
                  <c:v>0.8156</c:v>
                </c:pt>
                <c:pt idx="4">
                  <c:v>0.8156</c:v>
                </c:pt>
                <c:pt idx="5">
                  <c:v>0.8145</c:v>
                </c:pt>
                <c:pt idx="6">
                  <c:v>0.792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dLbls>
        <c:gapWidth val="50"/>
        <c:axId val="48650112"/>
        <c:axId val="48672768"/>
      </c:barChart>
      <c:catAx>
        <c:axId val="48650112"/>
        <c:scaling>
          <c:orientation val="minMax"/>
        </c:scaling>
        <c:delete val="0"/>
        <c:axPos val="l"/>
        <c:majorGridlines>
          <c:spPr>
            <a:ln xmlns:a="http://schemas.openxmlformats.org/drawingml/2006/main" w="9525">
              <a:solidFill>
                <a:srgbClr val="DDE5DF"/>
              </a:solidFill>
            </a:ln>
          </c:spPr>
        </c:majorGridlines>
        <c:numFmt formatCode="General" sourceLinked="1"/>
        <c:majorTickMark val="none"/>
        <c:minorTickMark val="none"/>
        <c:tickLblPos val="nextTo"/>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B7068"/>
                </a:solidFill>
                <a:latin typeface="Arial"/>
                <a:ea typeface="Arial"/>
                <a:cs typeface="Arial"/>
              </a:defRPr>
            </a:pPr>
          </a:p>
        </c:txPr>
        <c:crossAx val="48672768"/>
        <c:crosses val="autoZero"/>
        <c:lblOffset val="100"/>
      </c:catAx>
      <c:valAx>
        <c:axId val="48672768"/>
        <c:scaling>
          <c:orientation val="minMax"/>
          <c:max val="1"/>
          <c:min val="0"/>
        </c:scaling>
        <c:delete val="0"/>
        <c:axPos val="b"/>
        <c:numFmt formatCode="0.00%" sourceLinked="1"/>
        <c:majorTickMark val="none"/>
        <c:minorTickMark val="none"/>
        <c:tickLblPos val="nextTo"/>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5382F"/>
                </a:solidFill>
                <a:latin typeface="Arial"/>
                <a:ea typeface="Arial"/>
                <a:cs typeface="Arial"/>
              </a:defRPr>
            </a:pPr>
          </a:p>
        </c:txPr>
        <c:crossAx val="48650112"/>
        <c:crosses val="autoZero"/>
        <c:crossBetween val="between"/>
        <c:majorUnit val="0.2"/>
      </c:valAx>
      <c:spPr>
        <a:solidFill xmlns:a="http://schemas.openxmlformats.org/drawingml/2006/main">
          <a:srgbClr val="F7F8F4"/>
        </a:solidFill>
        <a:ln xmlns:a="http://schemas.openxmlformats.org/drawingml/2006/main" w="0">
          <a:noFill/>
        </a:ln>
      </c:spPr>
    </c:plotArea>
    <c:plotVisOnly val="1"/>
  </c:chart>
  <c:spPr>
    <a:solidFill xmlns:a="http://schemas.openxmlformats.org/drawingml/2006/main">
      <a:srgbClr val="F7F8F4"/>
    </a:solidFill>
    <a:ln xmlns:a="http://schemas.openxmlformats.org/drawingml/2006/main" w="0">
      <a:noFill/>
    </a:ln>
  </c:spPr>
  <c:externalData xmlns:ns0="http://schemas.openxmlformats.org/officeDocument/2006/relationships" ns0:id="rId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Random forest</c:v>
          </c:tx>
          <c:spPr>
            <a:ln xmlns:a="http://schemas.openxmlformats.org/drawingml/2006/main" w="23813">
              <a:solidFill>
                <a:srgbClr val="EFB74D"/>
              </a:solidFill>
            </a:ln>
          </c:spPr>
          <c:marker>
            <c:symbol val="none"/>
          </c:marker>
          <c:xVal>
            <c:numRef>
              <c:f>'Chart Data'!$A$2:$A$245</c:f>
              <c:numCache>
                <c:formatCode>0.00</c:formatCode>
                <c:ptCount val="244"/>
                <c:pt idx="0">
                  <c:v>0</c:v>
                </c:pt>
                <c:pt idx="1">
                  <c:v>0.002032520325</c:v>
                </c:pt>
                <c:pt idx="2">
                  <c:v>0.00406504065</c:v>
                </c:pt>
                <c:pt idx="3">
                  <c:v>0.00406504065</c:v>
                </c:pt>
                <c:pt idx="4">
                  <c:v>0.006097560976</c:v>
                </c:pt>
                <c:pt idx="5">
                  <c:v>0.006097560976</c:v>
                </c:pt>
                <c:pt idx="6">
                  <c:v>0.008130081301</c:v>
                </c:pt>
                <c:pt idx="7">
                  <c:v>0.008130081301</c:v>
                </c:pt>
                <c:pt idx="8">
                  <c:v>0.010162601626</c:v>
                </c:pt>
                <c:pt idx="9">
                  <c:v>0.010162601626</c:v>
                </c:pt>
                <c:pt idx="10">
                  <c:v>0.012195121951</c:v>
                </c:pt>
                <c:pt idx="11">
                  <c:v>0.012195121951</c:v>
                </c:pt>
                <c:pt idx="12">
                  <c:v>0.014227642276</c:v>
                </c:pt>
                <c:pt idx="13">
                  <c:v>0.014227642276</c:v>
                </c:pt>
                <c:pt idx="14">
                  <c:v>0.016260162602</c:v>
                </c:pt>
                <c:pt idx="15">
                  <c:v>0.016260162602</c:v>
                </c:pt>
                <c:pt idx="16">
                  <c:v>0.020325203252</c:v>
                </c:pt>
                <c:pt idx="17">
                  <c:v>0.020325203252</c:v>
                </c:pt>
                <c:pt idx="18">
                  <c:v>0.022357723577</c:v>
                </c:pt>
                <c:pt idx="19">
                  <c:v>0.022357723577</c:v>
                </c:pt>
                <c:pt idx="20">
                  <c:v>0.024390243902</c:v>
                </c:pt>
                <c:pt idx="21">
                  <c:v>0.024390243902</c:v>
                </c:pt>
                <c:pt idx="22">
                  <c:v>0.026422764228</c:v>
                </c:pt>
                <c:pt idx="23">
                  <c:v>0.026422764228</c:v>
                </c:pt>
                <c:pt idx="24">
                  <c:v>0.028455284553</c:v>
                </c:pt>
                <c:pt idx="25">
                  <c:v>0.028455284553</c:v>
                </c:pt>
                <c:pt idx="26">
                  <c:v>0.030487804878</c:v>
                </c:pt>
                <c:pt idx="27">
                  <c:v>0.030487804878</c:v>
                </c:pt>
                <c:pt idx="28">
                  <c:v>0.034552845528</c:v>
                </c:pt>
                <c:pt idx="29">
                  <c:v>0.034552845528</c:v>
                </c:pt>
                <c:pt idx="30">
                  <c:v>0.036585365854</c:v>
                </c:pt>
                <c:pt idx="31">
                  <c:v>0.036585365854</c:v>
                </c:pt>
                <c:pt idx="32">
                  <c:v>0.038617886179</c:v>
                </c:pt>
                <c:pt idx="33">
                  <c:v>0.038617886179</c:v>
                </c:pt>
                <c:pt idx="34">
                  <c:v>0.040650406504</c:v>
                </c:pt>
                <c:pt idx="35">
                  <c:v>0.040650406504</c:v>
                </c:pt>
                <c:pt idx="36">
                  <c:v>0.042682926829</c:v>
                </c:pt>
                <c:pt idx="37">
                  <c:v>0.042682926829</c:v>
                </c:pt>
                <c:pt idx="38">
                  <c:v>0.044715447154</c:v>
                </c:pt>
                <c:pt idx="39">
                  <c:v>0.044715447154</c:v>
                </c:pt>
                <c:pt idx="40">
                  <c:v>0.04674796748</c:v>
                </c:pt>
                <c:pt idx="41">
                  <c:v>0.04674796748</c:v>
                </c:pt>
                <c:pt idx="42">
                  <c:v>0.05081300813</c:v>
                </c:pt>
                <c:pt idx="43">
                  <c:v>0.05081300813</c:v>
                </c:pt>
                <c:pt idx="44">
                  <c:v>0.052845528455</c:v>
                </c:pt>
                <c:pt idx="45">
                  <c:v>0.052845528455</c:v>
                </c:pt>
                <c:pt idx="46">
                  <c:v>0.058943089431</c:v>
                </c:pt>
                <c:pt idx="47">
                  <c:v>0.058943089431</c:v>
                </c:pt>
                <c:pt idx="48">
                  <c:v>0.060975609756</c:v>
                </c:pt>
                <c:pt idx="49">
                  <c:v>0.060975609756</c:v>
                </c:pt>
                <c:pt idx="50">
                  <c:v>0.073170731707</c:v>
                </c:pt>
                <c:pt idx="51">
                  <c:v>0.073170731707</c:v>
                </c:pt>
                <c:pt idx="52">
                  <c:v>0.087398373984</c:v>
                </c:pt>
                <c:pt idx="53">
                  <c:v>0.087398373984</c:v>
                </c:pt>
                <c:pt idx="54">
                  <c:v>0.09756097561</c:v>
                </c:pt>
                <c:pt idx="55">
                  <c:v>0.09756097561</c:v>
                </c:pt>
                <c:pt idx="56">
                  <c:v>0.107723577236</c:v>
                </c:pt>
                <c:pt idx="57">
                  <c:v>0.107723577236</c:v>
                </c:pt>
                <c:pt idx="58">
                  <c:v>0.111788617886</c:v>
                </c:pt>
                <c:pt idx="59">
                  <c:v>0.111788617886</c:v>
                </c:pt>
                <c:pt idx="60">
                  <c:v>0.115853658537</c:v>
                </c:pt>
                <c:pt idx="61">
                  <c:v>0.115853658537</c:v>
                </c:pt>
                <c:pt idx="62">
                  <c:v>0.119918699187</c:v>
                </c:pt>
                <c:pt idx="63">
                  <c:v>0.119918699187</c:v>
                </c:pt>
                <c:pt idx="64">
                  <c:v>0.123983739837</c:v>
                </c:pt>
                <c:pt idx="65">
                  <c:v>0.123983739837</c:v>
                </c:pt>
                <c:pt idx="66">
                  <c:v>0.134146341463</c:v>
                </c:pt>
                <c:pt idx="67">
                  <c:v>0.134146341463</c:v>
                </c:pt>
                <c:pt idx="68">
                  <c:v>0.136178861789</c:v>
                </c:pt>
                <c:pt idx="69">
                  <c:v>0.136178861789</c:v>
                </c:pt>
                <c:pt idx="70">
                  <c:v>0.138211382114</c:v>
                </c:pt>
                <c:pt idx="71">
                  <c:v>0.138211382114</c:v>
                </c:pt>
                <c:pt idx="72">
                  <c:v>0.14837398374</c:v>
                </c:pt>
                <c:pt idx="73">
                  <c:v>0.14837398374</c:v>
                </c:pt>
                <c:pt idx="74">
                  <c:v>0.15243902439</c:v>
                </c:pt>
                <c:pt idx="75">
                  <c:v>0.15243902439</c:v>
                </c:pt>
                <c:pt idx="76">
                  <c:v>0.154471544715</c:v>
                </c:pt>
                <c:pt idx="77">
                  <c:v>0.154471544715</c:v>
                </c:pt>
                <c:pt idx="78">
                  <c:v>0.158536585366</c:v>
                </c:pt>
                <c:pt idx="79">
                  <c:v>0.158536585366</c:v>
                </c:pt>
                <c:pt idx="80">
                  <c:v>0.160569105691</c:v>
                </c:pt>
                <c:pt idx="81">
                  <c:v>0.160569105691</c:v>
                </c:pt>
                <c:pt idx="82">
                  <c:v>0.162601626016</c:v>
                </c:pt>
                <c:pt idx="83">
                  <c:v>0.162601626016</c:v>
                </c:pt>
                <c:pt idx="84">
                  <c:v>0.172764227642</c:v>
                </c:pt>
                <c:pt idx="85">
                  <c:v>0.172764227642</c:v>
                </c:pt>
                <c:pt idx="86">
                  <c:v>0.174796747967</c:v>
                </c:pt>
                <c:pt idx="87">
                  <c:v>0.174796747967</c:v>
                </c:pt>
                <c:pt idx="88">
                  <c:v>0.178861788618</c:v>
                </c:pt>
                <c:pt idx="89">
                  <c:v>0.178861788618</c:v>
                </c:pt>
                <c:pt idx="90">
                  <c:v>0.182926829268</c:v>
                </c:pt>
                <c:pt idx="91">
                  <c:v>0.182926829268</c:v>
                </c:pt>
                <c:pt idx="92">
                  <c:v>0.184959349593</c:v>
                </c:pt>
                <c:pt idx="93">
                  <c:v>0.184959349593</c:v>
                </c:pt>
                <c:pt idx="94">
                  <c:v>0.191056910569</c:v>
                </c:pt>
                <c:pt idx="95">
                  <c:v>0.191056910569</c:v>
                </c:pt>
                <c:pt idx="96">
                  <c:v>0.19918699187</c:v>
                </c:pt>
                <c:pt idx="97">
                  <c:v>0.19918699187</c:v>
                </c:pt>
                <c:pt idx="98">
                  <c:v>0.201219512195</c:v>
                </c:pt>
                <c:pt idx="99">
                  <c:v>0.201219512195</c:v>
                </c:pt>
                <c:pt idx="100">
                  <c:v>0.211382113821</c:v>
                </c:pt>
                <c:pt idx="101">
                  <c:v>0.211382113821</c:v>
                </c:pt>
                <c:pt idx="102">
                  <c:v>0.215447154472</c:v>
                </c:pt>
                <c:pt idx="103">
                  <c:v>0.215447154472</c:v>
                </c:pt>
                <c:pt idx="104">
                  <c:v>0.217479674797</c:v>
                </c:pt>
                <c:pt idx="105">
                  <c:v>0.217479674797</c:v>
                </c:pt>
                <c:pt idx="106">
                  <c:v>0.229674796748</c:v>
                </c:pt>
                <c:pt idx="107">
                  <c:v>0.229674796748</c:v>
                </c:pt>
                <c:pt idx="108">
                  <c:v>0.231707317073</c:v>
                </c:pt>
                <c:pt idx="109">
                  <c:v>0.231707317073</c:v>
                </c:pt>
                <c:pt idx="110">
                  <c:v>0.239837398374</c:v>
                </c:pt>
                <c:pt idx="111">
                  <c:v>0.239837398374</c:v>
                </c:pt>
                <c:pt idx="112">
                  <c:v>0.241869918699</c:v>
                </c:pt>
                <c:pt idx="113">
                  <c:v>0.241869918699</c:v>
                </c:pt>
                <c:pt idx="114">
                  <c:v>0.252032520325</c:v>
                </c:pt>
                <c:pt idx="115">
                  <c:v>0.252032520325</c:v>
                </c:pt>
                <c:pt idx="116">
                  <c:v>0.25406504065</c:v>
                </c:pt>
                <c:pt idx="117">
                  <c:v>0.25406504065</c:v>
                </c:pt>
                <c:pt idx="118">
                  <c:v>0.286585365854</c:v>
                </c:pt>
                <c:pt idx="119">
                  <c:v>0.286585365854</c:v>
                </c:pt>
                <c:pt idx="120">
                  <c:v>0.302845528455</c:v>
                </c:pt>
                <c:pt idx="121">
                  <c:v>0.302845528455</c:v>
                </c:pt>
                <c:pt idx="122">
                  <c:v>0.306910569106</c:v>
                </c:pt>
                <c:pt idx="123">
                  <c:v>0.306910569106</c:v>
                </c:pt>
                <c:pt idx="124">
                  <c:v>0.313008130081</c:v>
                </c:pt>
                <c:pt idx="125">
                  <c:v>0.313008130081</c:v>
                </c:pt>
                <c:pt idx="126">
                  <c:v>0.321138211382</c:v>
                </c:pt>
                <c:pt idx="127">
                  <c:v>0.321138211382</c:v>
                </c:pt>
                <c:pt idx="128">
                  <c:v>0.323170731707</c:v>
                </c:pt>
                <c:pt idx="129">
                  <c:v>0.323170731707</c:v>
                </c:pt>
                <c:pt idx="130">
                  <c:v>0.327235772358</c:v>
                </c:pt>
                <c:pt idx="131">
                  <c:v>0.327235772358</c:v>
                </c:pt>
                <c:pt idx="132">
                  <c:v>0.329268292683</c:v>
                </c:pt>
                <c:pt idx="133">
                  <c:v>0.329268292683</c:v>
                </c:pt>
                <c:pt idx="134">
                  <c:v>0.331300813008</c:v>
                </c:pt>
                <c:pt idx="135">
                  <c:v>0.331300813008</c:v>
                </c:pt>
                <c:pt idx="136">
                  <c:v>0.333333333333</c:v>
                </c:pt>
                <c:pt idx="137">
                  <c:v>0.333333333333</c:v>
                </c:pt>
                <c:pt idx="138">
                  <c:v>0.343495934959</c:v>
                </c:pt>
                <c:pt idx="139">
                  <c:v>0.343495934959</c:v>
                </c:pt>
                <c:pt idx="140">
                  <c:v>0.345528455285</c:v>
                </c:pt>
                <c:pt idx="141">
                  <c:v>0.345528455285</c:v>
                </c:pt>
                <c:pt idx="142">
                  <c:v>0.349593495935</c:v>
                </c:pt>
                <c:pt idx="143">
                  <c:v>0.349593495935</c:v>
                </c:pt>
                <c:pt idx="144">
                  <c:v>0.355691056911</c:v>
                </c:pt>
                <c:pt idx="145">
                  <c:v>0.355691056911</c:v>
                </c:pt>
                <c:pt idx="146">
                  <c:v>0.357723577236</c:v>
                </c:pt>
                <c:pt idx="147">
                  <c:v>0.357723577236</c:v>
                </c:pt>
                <c:pt idx="148">
                  <c:v>0.365853658537</c:v>
                </c:pt>
                <c:pt idx="149">
                  <c:v>0.365853658537</c:v>
                </c:pt>
                <c:pt idx="150">
                  <c:v>0.373983739837</c:v>
                </c:pt>
                <c:pt idx="151">
                  <c:v>0.373983739837</c:v>
                </c:pt>
                <c:pt idx="152">
                  <c:v>0.380081300813</c:v>
                </c:pt>
                <c:pt idx="153">
                  <c:v>0.380081300813</c:v>
                </c:pt>
                <c:pt idx="154">
                  <c:v>0.382113821138</c:v>
                </c:pt>
                <c:pt idx="155">
                  <c:v>0.382113821138</c:v>
                </c:pt>
                <c:pt idx="156">
                  <c:v>0.400406504065</c:v>
                </c:pt>
                <c:pt idx="157">
                  <c:v>0.400406504065</c:v>
                </c:pt>
                <c:pt idx="158">
                  <c:v>0.416666666667</c:v>
                </c:pt>
                <c:pt idx="159">
                  <c:v>0.416666666667</c:v>
                </c:pt>
                <c:pt idx="160">
                  <c:v>0.426829268293</c:v>
                </c:pt>
                <c:pt idx="161">
                  <c:v>0.426829268293</c:v>
                </c:pt>
                <c:pt idx="162">
                  <c:v>0.434959349593</c:v>
                </c:pt>
                <c:pt idx="163">
                  <c:v>0.434959349593</c:v>
                </c:pt>
                <c:pt idx="164">
                  <c:v>0.44918699187</c:v>
                </c:pt>
                <c:pt idx="165">
                  <c:v>0.44918699187</c:v>
                </c:pt>
                <c:pt idx="166">
                  <c:v>0.451219512195</c:v>
                </c:pt>
                <c:pt idx="167">
                  <c:v>0.451219512195</c:v>
                </c:pt>
                <c:pt idx="168">
                  <c:v>0.463414634146</c:v>
                </c:pt>
                <c:pt idx="169">
                  <c:v>0.463414634146</c:v>
                </c:pt>
                <c:pt idx="170">
                  <c:v>0.469512195122</c:v>
                </c:pt>
                <c:pt idx="171">
                  <c:v>0.469512195122</c:v>
                </c:pt>
                <c:pt idx="172">
                  <c:v>0.483739837398</c:v>
                </c:pt>
                <c:pt idx="173">
                  <c:v>0.483739837398</c:v>
                </c:pt>
                <c:pt idx="174">
                  <c:v>0.49593495935</c:v>
                </c:pt>
                <c:pt idx="175">
                  <c:v>0.49593495935</c:v>
                </c:pt>
                <c:pt idx="176">
                  <c:v>0.512195121951</c:v>
                </c:pt>
                <c:pt idx="177">
                  <c:v>0.512195121951</c:v>
                </c:pt>
                <c:pt idx="178">
                  <c:v>0.514227642276</c:v>
                </c:pt>
                <c:pt idx="179">
                  <c:v>0.514227642276</c:v>
                </c:pt>
                <c:pt idx="180">
                  <c:v>0.528455284553</c:v>
                </c:pt>
                <c:pt idx="181">
                  <c:v>0.528455284553</c:v>
                </c:pt>
                <c:pt idx="182">
                  <c:v>0.544715447154</c:v>
                </c:pt>
                <c:pt idx="183">
                  <c:v>0.544715447154</c:v>
                </c:pt>
                <c:pt idx="184">
                  <c:v>0.548780487805</c:v>
                </c:pt>
                <c:pt idx="185">
                  <c:v>0.548780487805</c:v>
                </c:pt>
                <c:pt idx="186">
                  <c:v>0.556910569106</c:v>
                </c:pt>
                <c:pt idx="187">
                  <c:v>0.556910569106</c:v>
                </c:pt>
                <c:pt idx="188">
                  <c:v>0.565040650407</c:v>
                </c:pt>
                <c:pt idx="189">
                  <c:v>0.565040650407</c:v>
                </c:pt>
                <c:pt idx="190">
                  <c:v>0.573170731707</c:v>
                </c:pt>
                <c:pt idx="191">
                  <c:v>0.573170731707</c:v>
                </c:pt>
                <c:pt idx="192">
                  <c:v>0.577235772358</c:v>
                </c:pt>
                <c:pt idx="193">
                  <c:v>0.577235772358</c:v>
                </c:pt>
                <c:pt idx="194">
                  <c:v>0.585365853659</c:v>
                </c:pt>
                <c:pt idx="195">
                  <c:v>0.585365853659</c:v>
                </c:pt>
                <c:pt idx="196">
                  <c:v>0.591463414634</c:v>
                </c:pt>
                <c:pt idx="197">
                  <c:v>0.591463414634</c:v>
                </c:pt>
                <c:pt idx="198">
                  <c:v>0.595528455285</c:v>
                </c:pt>
                <c:pt idx="199">
                  <c:v>0.595528455285</c:v>
                </c:pt>
                <c:pt idx="200">
                  <c:v>0.60162601626</c:v>
                </c:pt>
                <c:pt idx="201">
                  <c:v>0.60162601626</c:v>
                </c:pt>
                <c:pt idx="202">
                  <c:v>0.611788617886</c:v>
                </c:pt>
                <c:pt idx="203">
                  <c:v>0.611788617886</c:v>
                </c:pt>
                <c:pt idx="204">
                  <c:v>0.613821138211</c:v>
                </c:pt>
                <c:pt idx="205">
                  <c:v>0.613821138211</c:v>
                </c:pt>
                <c:pt idx="206">
                  <c:v>0.615853658537</c:v>
                </c:pt>
                <c:pt idx="207">
                  <c:v>0.615853658537</c:v>
                </c:pt>
                <c:pt idx="208">
                  <c:v>0.617886178862</c:v>
                </c:pt>
                <c:pt idx="209">
                  <c:v>0.617886178862</c:v>
                </c:pt>
                <c:pt idx="210">
                  <c:v>0.619918699187</c:v>
                </c:pt>
                <c:pt idx="211">
                  <c:v>0.619918699187</c:v>
                </c:pt>
                <c:pt idx="212">
                  <c:v>0.621951219512</c:v>
                </c:pt>
                <c:pt idx="213">
                  <c:v>0.621951219512</c:v>
                </c:pt>
                <c:pt idx="214">
                  <c:v>0.630081300813</c:v>
                </c:pt>
                <c:pt idx="215">
                  <c:v>0.630081300813</c:v>
                </c:pt>
                <c:pt idx="216">
                  <c:v>0.640243902439</c:v>
                </c:pt>
                <c:pt idx="217">
                  <c:v>0.640243902439</c:v>
                </c:pt>
                <c:pt idx="218">
                  <c:v>0.646341463415</c:v>
                </c:pt>
                <c:pt idx="219">
                  <c:v>0.646341463415</c:v>
                </c:pt>
                <c:pt idx="220">
                  <c:v>0.64837398374</c:v>
                </c:pt>
                <c:pt idx="221">
                  <c:v>0.64837398374</c:v>
                </c:pt>
                <c:pt idx="222">
                  <c:v>0.658536585366</c:v>
                </c:pt>
                <c:pt idx="223">
                  <c:v>0.658536585366</c:v>
                </c:pt>
                <c:pt idx="224">
                  <c:v>0.684959349593</c:v>
                </c:pt>
                <c:pt idx="225">
                  <c:v>0.684959349593</c:v>
                </c:pt>
                <c:pt idx="226">
                  <c:v>0.691056910569</c:v>
                </c:pt>
                <c:pt idx="227">
                  <c:v>0.691056910569</c:v>
                </c:pt>
                <c:pt idx="228">
                  <c:v>0.697154471545</c:v>
                </c:pt>
                <c:pt idx="229">
                  <c:v>0.697154471545</c:v>
                </c:pt>
                <c:pt idx="230">
                  <c:v>0.735772357724</c:v>
                </c:pt>
                <c:pt idx="231">
                  <c:v>0.735772357724</c:v>
                </c:pt>
                <c:pt idx="232">
                  <c:v>0.786585365854</c:v>
                </c:pt>
                <c:pt idx="233">
                  <c:v>0.786585365854</c:v>
                </c:pt>
                <c:pt idx="234">
                  <c:v>0.819105691057</c:v>
                </c:pt>
                <c:pt idx="235">
                  <c:v>0.819105691057</c:v>
                </c:pt>
                <c:pt idx="236">
                  <c:v>0.95325203252</c:v>
                </c:pt>
                <c:pt idx="237">
                  <c:v>0.95325203252</c:v>
                </c:pt>
                <c:pt idx="238">
                  <c:v>0.963414634146</c:v>
                </c:pt>
                <c:pt idx="239">
                  <c:v>0.967479674797</c:v>
                </c:pt>
                <c:pt idx="240">
                  <c:v>0.985772357724</c:v>
                </c:pt>
                <c:pt idx="241">
                  <c:v>0.993902439024</c:v>
                </c:pt>
                <c:pt idx="242">
                  <c:v>0.99593495935</c:v>
                </c:pt>
                <c:pt idx="243">
                  <c:v>1</c:v>
                </c:pt>
              </c:numCache>
            </c:numRef>
          </c:xVal>
          <c:yVal>
            <c:numRef>
              <c:f>'Chart Data'!$B$2:$B$245</c:f>
              <c:numCache>
                <c:formatCode>0.00</c:formatCode>
                <c:ptCount val="244"/>
                <c:pt idx="0">
                  <c:v>0</c:v>
                </c:pt>
                <c:pt idx="1">
                  <c:v>0</c:v>
                </c:pt>
                <c:pt idx="2">
                  <c:v>0</c:v>
                </c:pt>
                <c:pt idx="3">
                  <c:v>0.055785123967</c:v>
                </c:pt>
                <c:pt idx="4">
                  <c:v>0.055785123967</c:v>
                </c:pt>
                <c:pt idx="5">
                  <c:v>0.059917355372</c:v>
                </c:pt>
                <c:pt idx="6">
                  <c:v>0.059917355372</c:v>
                </c:pt>
                <c:pt idx="7">
                  <c:v>0.097107438017</c:v>
                </c:pt>
                <c:pt idx="8">
                  <c:v>0.097107438017</c:v>
                </c:pt>
                <c:pt idx="9">
                  <c:v>0.204545454545</c:v>
                </c:pt>
                <c:pt idx="10">
                  <c:v>0.204545454545</c:v>
                </c:pt>
                <c:pt idx="11">
                  <c:v>0.212809917355</c:v>
                </c:pt>
                <c:pt idx="12">
                  <c:v>0.212809917355</c:v>
                </c:pt>
                <c:pt idx="13">
                  <c:v>0.223140495868</c:v>
                </c:pt>
                <c:pt idx="14">
                  <c:v>0.223140495868</c:v>
                </c:pt>
                <c:pt idx="15">
                  <c:v>0.26652892562</c:v>
                </c:pt>
                <c:pt idx="16">
                  <c:v>0.26652892562</c:v>
                </c:pt>
                <c:pt idx="17">
                  <c:v>0.297520661157</c:v>
                </c:pt>
                <c:pt idx="18">
                  <c:v>0.297520661157</c:v>
                </c:pt>
                <c:pt idx="19">
                  <c:v>0.336776859504</c:v>
                </c:pt>
                <c:pt idx="20">
                  <c:v>0.336776859504</c:v>
                </c:pt>
                <c:pt idx="21">
                  <c:v>0.363636363636</c:v>
                </c:pt>
                <c:pt idx="22">
                  <c:v>0.363636363636</c:v>
                </c:pt>
                <c:pt idx="23">
                  <c:v>0.392561983471</c:v>
                </c:pt>
                <c:pt idx="24">
                  <c:v>0.392561983471</c:v>
                </c:pt>
                <c:pt idx="25">
                  <c:v>0.409090909091</c:v>
                </c:pt>
                <c:pt idx="26">
                  <c:v>0.409090909091</c:v>
                </c:pt>
                <c:pt idx="27">
                  <c:v>0.444214876033</c:v>
                </c:pt>
                <c:pt idx="28">
                  <c:v>0.444214876033</c:v>
                </c:pt>
                <c:pt idx="29">
                  <c:v>0.448347107438</c:v>
                </c:pt>
                <c:pt idx="30">
                  <c:v>0.448347107438</c:v>
                </c:pt>
                <c:pt idx="31">
                  <c:v>0.45041322314</c:v>
                </c:pt>
                <c:pt idx="32">
                  <c:v>0.45041322314</c:v>
                </c:pt>
                <c:pt idx="33">
                  <c:v>0.477272727273</c:v>
                </c:pt>
                <c:pt idx="34">
                  <c:v>0.477272727273</c:v>
                </c:pt>
                <c:pt idx="35">
                  <c:v>0.50826446281</c:v>
                </c:pt>
                <c:pt idx="36">
                  <c:v>0.50826446281</c:v>
                </c:pt>
                <c:pt idx="37">
                  <c:v>0.54958677686</c:v>
                </c:pt>
                <c:pt idx="38">
                  <c:v>0.54958677686</c:v>
                </c:pt>
                <c:pt idx="39">
                  <c:v>0.669421487603</c:v>
                </c:pt>
                <c:pt idx="40">
                  <c:v>0.669421487603</c:v>
                </c:pt>
                <c:pt idx="41">
                  <c:v>0.696280991736</c:v>
                </c:pt>
                <c:pt idx="42">
                  <c:v>0.696280991736</c:v>
                </c:pt>
                <c:pt idx="43">
                  <c:v>0.698347107438</c:v>
                </c:pt>
                <c:pt idx="44">
                  <c:v>0.698347107438</c:v>
                </c:pt>
                <c:pt idx="45">
                  <c:v>0.702479338843</c:v>
                </c:pt>
                <c:pt idx="46">
                  <c:v>0.702479338843</c:v>
                </c:pt>
                <c:pt idx="47">
                  <c:v>0.706611570248</c:v>
                </c:pt>
                <c:pt idx="48">
                  <c:v>0.706611570248</c:v>
                </c:pt>
                <c:pt idx="49">
                  <c:v>0.710743801653</c:v>
                </c:pt>
                <c:pt idx="50">
                  <c:v>0.710743801653</c:v>
                </c:pt>
                <c:pt idx="51">
                  <c:v>0.714876033058</c:v>
                </c:pt>
                <c:pt idx="52">
                  <c:v>0.714876033058</c:v>
                </c:pt>
                <c:pt idx="53">
                  <c:v>0.719008264463</c:v>
                </c:pt>
                <c:pt idx="54">
                  <c:v>0.719008264463</c:v>
                </c:pt>
                <c:pt idx="55">
                  <c:v>0.721074380165</c:v>
                </c:pt>
                <c:pt idx="56">
                  <c:v>0.721074380165</c:v>
                </c:pt>
                <c:pt idx="57">
                  <c:v>0.723140495868</c:v>
                </c:pt>
                <c:pt idx="58">
                  <c:v>0.723140495868</c:v>
                </c:pt>
                <c:pt idx="59">
                  <c:v>0.73347107438</c:v>
                </c:pt>
                <c:pt idx="60">
                  <c:v>0.73347107438</c:v>
                </c:pt>
                <c:pt idx="61">
                  <c:v>0.735537190083</c:v>
                </c:pt>
                <c:pt idx="62">
                  <c:v>0.735537190083</c:v>
                </c:pt>
                <c:pt idx="63">
                  <c:v>0.737603305785</c:v>
                </c:pt>
                <c:pt idx="64">
                  <c:v>0.737603305785</c:v>
                </c:pt>
                <c:pt idx="65">
                  <c:v>0.739669421488</c:v>
                </c:pt>
                <c:pt idx="66">
                  <c:v>0.739669421488</c:v>
                </c:pt>
                <c:pt idx="67">
                  <c:v>0.745867768595</c:v>
                </c:pt>
                <c:pt idx="68">
                  <c:v>0.745867768595</c:v>
                </c:pt>
                <c:pt idx="69">
                  <c:v>0.752066115702</c:v>
                </c:pt>
                <c:pt idx="70">
                  <c:v>0.752066115702</c:v>
                </c:pt>
                <c:pt idx="71">
                  <c:v>0.756198347107</c:v>
                </c:pt>
                <c:pt idx="72">
                  <c:v>0.756198347107</c:v>
                </c:pt>
                <c:pt idx="73">
                  <c:v>0.75826446281</c:v>
                </c:pt>
                <c:pt idx="74">
                  <c:v>0.75826446281</c:v>
                </c:pt>
                <c:pt idx="75">
                  <c:v>0.760330578512</c:v>
                </c:pt>
                <c:pt idx="76">
                  <c:v>0.760330578512</c:v>
                </c:pt>
                <c:pt idx="77">
                  <c:v>0.764462809917</c:v>
                </c:pt>
                <c:pt idx="78">
                  <c:v>0.764462809917</c:v>
                </c:pt>
                <c:pt idx="79">
                  <c:v>0.776859504132</c:v>
                </c:pt>
                <c:pt idx="80">
                  <c:v>0.776859504132</c:v>
                </c:pt>
                <c:pt idx="81">
                  <c:v>0.780991735537</c:v>
                </c:pt>
                <c:pt idx="82">
                  <c:v>0.780991735537</c:v>
                </c:pt>
                <c:pt idx="83">
                  <c:v>0.785123966942</c:v>
                </c:pt>
                <c:pt idx="84">
                  <c:v>0.785123966942</c:v>
                </c:pt>
                <c:pt idx="85">
                  <c:v>0.787190082645</c:v>
                </c:pt>
                <c:pt idx="86">
                  <c:v>0.787190082645</c:v>
                </c:pt>
                <c:pt idx="87">
                  <c:v>0.789256198347</c:v>
                </c:pt>
                <c:pt idx="88">
                  <c:v>0.789256198347</c:v>
                </c:pt>
                <c:pt idx="89">
                  <c:v>0.79132231405</c:v>
                </c:pt>
                <c:pt idx="90">
                  <c:v>0.79132231405</c:v>
                </c:pt>
                <c:pt idx="91">
                  <c:v>0.793388429752</c:v>
                </c:pt>
                <c:pt idx="92">
                  <c:v>0.793388429752</c:v>
                </c:pt>
                <c:pt idx="93">
                  <c:v>0.79958677686</c:v>
                </c:pt>
                <c:pt idx="94">
                  <c:v>0.79958677686</c:v>
                </c:pt>
                <c:pt idx="95">
                  <c:v>0.801652892562</c:v>
                </c:pt>
                <c:pt idx="96">
                  <c:v>0.801652892562</c:v>
                </c:pt>
                <c:pt idx="97">
                  <c:v>0.803719008264</c:v>
                </c:pt>
                <c:pt idx="98">
                  <c:v>0.803719008264</c:v>
                </c:pt>
                <c:pt idx="99">
                  <c:v>0.805785123967</c:v>
                </c:pt>
                <c:pt idx="100">
                  <c:v>0.805785123967</c:v>
                </c:pt>
                <c:pt idx="101">
                  <c:v>0.807851239669</c:v>
                </c:pt>
                <c:pt idx="102">
                  <c:v>0.807851239669</c:v>
                </c:pt>
                <c:pt idx="103">
                  <c:v>0.809917355372</c:v>
                </c:pt>
                <c:pt idx="104">
                  <c:v>0.809917355372</c:v>
                </c:pt>
                <c:pt idx="105">
                  <c:v>0.811983471074</c:v>
                </c:pt>
                <c:pt idx="106">
                  <c:v>0.811983471074</c:v>
                </c:pt>
                <c:pt idx="107">
                  <c:v>0.814049586777</c:v>
                </c:pt>
                <c:pt idx="108">
                  <c:v>0.814049586777</c:v>
                </c:pt>
                <c:pt idx="109">
                  <c:v>0.820247933884</c:v>
                </c:pt>
                <c:pt idx="110">
                  <c:v>0.820247933884</c:v>
                </c:pt>
                <c:pt idx="111">
                  <c:v>0.824380165289</c:v>
                </c:pt>
                <c:pt idx="112">
                  <c:v>0.824380165289</c:v>
                </c:pt>
                <c:pt idx="113">
                  <c:v>0.826446280992</c:v>
                </c:pt>
                <c:pt idx="114">
                  <c:v>0.826446280992</c:v>
                </c:pt>
                <c:pt idx="115">
                  <c:v>0.830578512397</c:v>
                </c:pt>
                <c:pt idx="116">
                  <c:v>0.830578512397</c:v>
                </c:pt>
                <c:pt idx="117">
                  <c:v>0.832644628099</c:v>
                </c:pt>
                <c:pt idx="118">
                  <c:v>0.832644628099</c:v>
                </c:pt>
                <c:pt idx="119">
                  <c:v>0.834710743802</c:v>
                </c:pt>
                <c:pt idx="120">
                  <c:v>0.834710743802</c:v>
                </c:pt>
                <c:pt idx="121">
                  <c:v>0.836776859504</c:v>
                </c:pt>
                <c:pt idx="122">
                  <c:v>0.836776859504</c:v>
                </c:pt>
                <c:pt idx="123">
                  <c:v>0.840909090909</c:v>
                </c:pt>
                <c:pt idx="124">
                  <c:v>0.840909090909</c:v>
                </c:pt>
                <c:pt idx="125">
                  <c:v>0.842975206612</c:v>
                </c:pt>
                <c:pt idx="126">
                  <c:v>0.842975206612</c:v>
                </c:pt>
                <c:pt idx="127">
                  <c:v>0.847107438017</c:v>
                </c:pt>
                <c:pt idx="128">
                  <c:v>0.847107438017</c:v>
                </c:pt>
                <c:pt idx="129">
                  <c:v>0.849173553719</c:v>
                </c:pt>
                <c:pt idx="130">
                  <c:v>0.849173553719</c:v>
                </c:pt>
                <c:pt idx="131">
                  <c:v>0.851239669421</c:v>
                </c:pt>
                <c:pt idx="132">
                  <c:v>0.851239669421</c:v>
                </c:pt>
                <c:pt idx="133">
                  <c:v>0.853305785124</c:v>
                </c:pt>
                <c:pt idx="134">
                  <c:v>0.853305785124</c:v>
                </c:pt>
                <c:pt idx="135">
                  <c:v>0.859504132231</c:v>
                </c:pt>
                <c:pt idx="136">
                  <c:v>0.859504132231</c:v>
                </c:pt>
                <c:pt idx="137">
                  <c:v>0.863636363636</c:v>
                </c:pt>
                <c:pt idx="138">
                  <c:v>0.863636363636</c:v>
                </c:pt>
                <c:pt idx="139">
                  <c:v>0.865702479339</c:v>
                </c:pt>
                <c:pt idx="140">
                  <c:v>0.865702479339</c:v>
                </c:pt>
                <c:pt idx="141">
                  <c:v>0.867768595041</c:v>
                </c:pt>
                <c:pt idx="142">
                  <c:v>0.867768595041</c:v>
                </c:pt>
                <c:pt idx="143">
                  <c:v>0.869834710744</c:v>
                </c:pt>
                <c:pt idx="144">
                  <c:v>0.869834710744</c:v>
                </c:pt>
                <c:pt idx="145">
                  <c:v>0.871900826446</c:v>
                </c:pt>
                <c:pt idx="146">
                  <c:v>0.871900826446</c:v>
                </c:pt>
                <c:pt idx="147">
                  <c:v>0.873966942149</c:v>
                </c:pt>
                <c:pt idx="148">
                  <c:v>0.873966942149</c:v>
                </c:pt>
                <c:pt idx="149">
                  <c:v>0.876033057851</c:v>
                </c:pt>
                <c:pt idx="150">
                  <c:v>0.876033057851</c:v>
                </c:pt>
                <c:pt idx="151">
                  <c:v>0.880165289256</c:v>
                </c:pt>
                <c:pt idx="152">
                  <c:v>0.880165289256</c:v>
                </c:pt>
                <c:pt idx="153">
                  <c:v>0.884297520661</c:v>
                </c:pt>
                <c:pt idx="154">
                  <c:v>0.884297520661</c:v>
                </c:pt>
                <c:pt idx="155">
                  <c:v>0.888429752066</c:v>
                </c:pt>
                <c:pt idx="156">
                  <c:v>0.888429752066</c:v>
                </c:pt>
                <c:pt idx="157">
                  <c:v>0.890495867769</c:v>
                </c:pt>
                <c:pt idx="158">
                  <c:v>0.890495867769</c:v>
                </c:pt>
                <c:pt idx="159">
                  <c:v>0.892561983471</c:v>
                </c:pt>
                <c:pt idx="160">
                  <c:v>0.892561983471</c:v>
                </c:pt>
                <c:pt idx="161">
                  <c:v>0.894628099174</c:v>
                </c:pt>
                <c:pt idx="162">
                  <c:v>0.894628099174</c:v>
                </c:pt>
                <c:pt idx="163">
                  <c:v>0.896694214876</c:v>
                </c:pt>
                <c:pt idx="164">
                  <c:v>0.896694214876</c:v>
                </c:pt>
                <c:pt idx="165">
                  <c:v>0.898760330579</c:v>
                </c:pt>
                <c:pt idx="166">
                  <c:v>0.898760330579</c:v>
                </c:pt>
                <c:pt idx="167">
                  <c:v>0.900826446281</c:v>
                </c:pt>
                <c:pt idx="168">
                  <c:v>0.900826446281</c:v>
                </c:pt>
                <c:pt idx="169">
                  <c:v>0.902892561983</c:v>
                </c:pt>
                <c:pt idx="170">
                  <c:v>0.902892561983</c:v>
                </c:pt>
                <c:pt idx="171">
                  <c:v>0.904958677686</c:v>
                </c:pt>
                <c:pt idx="172">
                  <c:v>0.904958677686</c:v>
                </c:pt>
                <c:pt idx="173">
                  <c:v>0.907024793388</c:v>
                </c:pt>
                <c:pt idx="174">
                  <c:v>0.907024793388</c:v>
                </c:pt>
                <c:pt idx="175">
                  <c:v>0.909090909091</c:v>
                </c:pt>
                <c:pt idx="176">
                  <c:v>0.909090909091</c:v>
                </c:pt>
                <c:pt idx="177">
                  <c:v>0.911157024793</c:v>
                </c:pt>
                <c:pt idx="178">
                  <c:v>0.911157024793</c:v>
                </c:pt>
                <c:pt idx="179">
                  <c:v>0.913223140496</c:v>
                </c:pt>
                <c:pt idx="180">
                  <c:v>0.913223140496</c:v>
                </c:pt>
                <c:pt idx="181">
                  <c:v>0.915289256198</c:v>
                </c:pt>
                <c:pt idx="182">
                  <c:v>0.915289256198</c:v>
                </c:pt>
                <c:pt idx="183">
                  <c:v>0.919421487603</c:v>
                </c:pt>
                <c:pt idx="184">
                  <c:v>0.919421487603</c:v>
                </c:pt>
                <c:pt idx="185">
                  <c:v>0.921487603306</c:v>
                </c:pt>
                <c:pt idx="186">
                  <c:v>0.921487603306</c:v>
                </c:pt>
                <c:pt idx="187">
                  <c:v>0.927685950413</c:v>
                </c:pt>
                <c:pt idx="188">
                  <c:v>0.927685950413</c:v>
                </c:pt>
                <c:pt idx="189">
                  <c:v>0.931818181818</c:v>
                </c:pt>
                <c:pt idx="190">
                  <c:v>0.931818181818</c:v>
                </c:pt>
                <c:pt idx="191">
                  <c:v>0.938016528926</c:v>
                </c:pt>
                <c:pt idx="192">
                  <c:v>0.938016528926</c:v>
                </c:pt>
                <c:pt idx="193">
                  <c:v>0.940082644628</c:v>
                </c:pt>
                <c:pt idx="194">
                  <c:v>0.940082644628</c:v>
                </c:pt>
                <c:pt idx="195">
                  <c:v>0.944214876033</c:v>
                </c:pt>
                <c:pt idx="196">
                  <c:v>0.944214876033</c:v>
                </c:pt>
                <c:pt idx="197">
                  <c:v>0.946280991736</c:v>
                </c:pt>
                <c:pt idx="198">
                  <c:v>0.946280991736</c:v>
                </c:pt>
                <c:pt idx="199">
                  <c:v>0.948347107438</c:v>
                </c:pt>
                <c:pt idx="200">
                  <c:v>0.948347107438</c:v>
                </c:pt>
                <c:pt idx="201">
                  <c:v>0.954545454545</c:v>
                </c:pt>
                <c:pt idx="202">
                  <c:v>0.954545454545</c:v>
                </c:pt>
                <c:pt idx="203">
                  <c:v>0.956611570248</c:v>
                </c:pt>
                <c:pt idx="204">
                  <c:v>0.956611570248</c:v>
                </c:pt>
                <c:pt idx="205">
                  <c:v>0.960743801653</c:v>
                </c:pt>
                <c:pt idx="206">
                  <c:v>0.960743801653</c:v>
                </c:pt>
                <c:pt idx="207">
                  <c:v>0.962809917355</c:v>
                </c:pt>
                <c:pt idx="208">
                  <c:v>0.962809917355</c:v>
                </c:pt>
                <c:pt idx="209">
                  <c:v>0.964876033058</c:v>
                </c:pt>
                <c:pt idx="210">
                  <c:v>0.964876033058</c:v>
                </c:pt>
                <c:pt idx="211">
                  <c:v>0.969008264463</c:v>
                </c:pt>
                <c:pt idx="212">
                  <c:v>0.969008264463</c:v>
                </c:pt>
                <c:pt idx="213">
                  <c:v>0.971074380165</c:v>
                </c:pt>
                <c:pt idx="214">
                  <c:v>0.971074380165</c:v>
                </c:pt>
                <c:pt idx="215">
                  <c:v>0.97520661157</c:v>
                </c:pt>
                <c:pt idx="216">
                  <c:v>0.97520661157</c:v>
                </c:pt>
                <c:pt idx="217">
                  <c:v>0.977272727273</c:v>
                </c:pt>
                <c:pt idx="218">
                  <c:v>0.977272727273</c:v>
                </c:pt>
                <c:pt idx="219">
                  <c:v>0.981404958678</c:v>
                </c:pt>
                <c:pt idx="220">
                  <c:v>0.981404958678</c:v>
                </c:pt>
                <c:pt idx="221">
                  <c:v>0.98347107438</c:v>
                </c:pt>
                <c:pt idx="222">
                  <c:v>0.98347107438</c:v>
                </c:pt>
                <c:pt idx="223">
                  <c:v>0.985537190083</c:v>
                </c:pt>
                <c:pt idx="224">
                  <c:v>0.985537190083</c:v>
                </c:pt>
                <c:pt idx="225">
                  <c:v>0.987603305785</c:v>
                </c:pt>
                <c:pt idx="226">
                  <c:v>0.987603305785</c:v>
                </c:pt>
                <c:pt idx="227">
                  <c:v>0.989669421488</c:v>
                </c:pt>
                <c:pt idx="228">
                  <c:v>0.989669421488</c:v>
                </c:pt>
                <c:pt idx="229">
                  <c:v>0.99173553719</c:v>
                </c:pt>
                <c:pt idx="230">
                  <c:v>0.99173553719</c:v>
                </c:pt>
                <c:pt idx="231">
                  <c:v>0.993801652893</c:v>
                </c:pt>
                <c:pt idx="232">
                  <c:v>0.993801652893</c:v>
                </c:pt>
                <c:pt idx="233">
                  <c:v>0.995867768595</c:v>
                </c:pt>
                <c:pt idx="234">
                  <c:v>0.995867768595</c:v>
                </c:pt>
                <c:pt idx="235">
                  <c:v>0.997933884298</c:v>
                </c:pt>
                <c:pt idx="236">
                  <c:v>0.997933884298</c:v>
                </c:pt>
                <c:pt idx="237">
                  <c:v>1</c:v>
                </c:pt>
                <c:pt idx="238">
                  <c:v>1</c:v>
                </c:pt>
                <c:pt idx="239">
                  <c:v>1</c:v>
                </c:pt>
                <c:pt idx="240">
                  <c:v>1</c:v>
                </c:pt>
                <c:pt idx="241">
                  <c:v>1</c:v>
                </c:pt>
                <c:pt idx="242">
                  <c:v>1</c:v>
                </c:pt>
                <c:pt idx="243">
                  <c:v>1</c:v>
                </c:pt>
              </c:numCache>
            </c:numRef>
          </c:yVal>
        </c:ser>
        <c:ser>
          <c:idx val="1"/>
          <c:order val="1"/>
          <c:tx>
            <c:v>Neural network</c:v>
          </c:tx>
          <c:spPr>
            <a:ln xmlns:a="http://schemas.openxmlformats.org/drawingml/2006/main" w="23813">
              <a:solidFill>
                <a:srgbClr val="087F70"/>
              </a:solidFill>
            </a:ln>
          </c:spPr>
          <c:marker>
            <c:symbol val="none"/>
          </c:marker>
          <c:xVal>
            <c:numRef>
              <c:f>'Chart Data'!$C$2:$C$253</c:f>
              <c:numCache>
                <c:formatCode>0.00</c:formatCode>
                <c:ptCount val="252"/>
                <c:pt idx="0">
                  <c:v>0</c:v>
                </c:pt>
                <c:pt idx="1">
                  <c:v>0</c:v>
                </c:pt>
                <c:pt idx="2">
                  <c:v>0</c:v>
                </c:pt>
                <c:pt idx="3">
                  <c:v>0.002032520325</c:v>
                </c:pt>
                <c:pt idx="4">
                  <c:v>0.002032520325</c:v>
                </c:pt>
                <c:pt idx="5">
                  <c:v>0.00406504065</c:v>
                </c:pt>
                <c:pt idx="6">
                  <c:v>0.00406504065</c:v>
                </c:pt>
                <c:pt idx="7">
                  <c:v>0.006097560976</c:v>
                </c:pt>
                <c:pt idx="8">
                  <c:v>0.006097560976</c:v>
                </c:pt>
                <c:pt idx="9">
                  <c:v>0.008130081301</c:v>
                </c:pt>
                <c:pt idx="10">
                  <c:v>0.008130081301</c:v>
                </c:pt>
                <c:pt idx="11">
                  <c:v>0.010162601626</c:v>
                </c:pt>
                <c:pt idx="12">
                  <c:v>0.010162601626</c:v>
                </c:pt>
                <c:pt idx="13">
                  <c:v>0.012195121951</c:v>
                </c:pt>
                <c:pt idx="14">
                  <c:v>0.012195121951</c:v>
                </c:pt>
                <c:pt idx="15">
                  <c:v>0.014227642276</c:v>
                </c:pt>
                <c:pt idx="16">
                  <c:v>0.014227642276</c:v>
                </c:pt>
                <c:pt idx="17">
                  <c:v>0.016260162602</c:v>
                </c:pt>
                <c:pt idx="18">
                  <c:v>0.016260162602</c:v>
                </c:pt>
                <c:pt idx="19">
                  <c:v>0.018292682927</c:v>
                </c:pt>
                <c:pt idx="20">
                  <c:v>0.018292682927</c:v>
                </c:pt>
                <c:pt idx="21">
                  <c:v>0.020325203252</c:v>
                </c:pt>
                <c:pt idx="22">
                  <c:v>0.020325203252</c:v>
                </c:pt>
                <c:pt idx="23">
                  <c:v>0.022357723577</c:v>
                </c:pt>
                <c:pt idx="24">
                  <c:v>0.022357723577</c:v>
                </c:pt>
                <c:pt idx="25">
                  <c:v>0.024390243902</c:v>
                </c:pt>
                <c:pt idx="26">
                  <c:v>0.024390243902</c:v>
                </c:pt>
                <c:pt idx="27">
                  <c:v>0.026422764228</c:v>
                </c:pt>
                <c:pt idx="28">
                  <c:v>0.026422764228</c:v>
                </c:pt>
                <c:pt idx="29">
                  <c:v>0.028455284553</c:v>
                </c:pt>
                <c:pt idx="30">
                  <c:v>0.028455284553</c:v>
                </c:pt>
                <c:pt idx="31">
                  <c:v>0.030487804878</c:v>
                </c:pt>
                <c:pt idx="32">
                  <c:v>0.030487804878</c:v>
                </c:pt>
                <c:pt idx="33">
                  <c:v>0.032520325203</c:v>
                </c:pt>
                <c:pt idx="34">
                  <c:v>0.032520325203</c:v>
                </c:pt>
                <c:pt idx="35">
                  <c:v>0.034552845528</c:v>
                </c:pt>
                <c:pt idx="36">
                  <c:v>0.034552845528</c:v>
                </c:pt>
                <c:pt idx="37">
                  <c:v>0.036585365854</c:v>
                </c:pt>
                <c:pt idx="38">
                  <c:v>0.036585365854</c:v>
                </c:pt>
                <c:pt idx="39">
                  <c:v>0.038617886179</c:v>
                </c:pt>
                <c:pt idx="40">
                  <c:v>0.038617886179</c:v>
                </c:pt>
                <c:pt idx="41">
                  <c:v>0.040650406504</c:v>
                </c:pt>
                <c:pt idx="42">
                  <c:v>0.040650406504</c:v>
                </c:pt>
                <c:pt idx="43">
                  <c:v>0.042682926829</c:v>
                </c:pt>
                <c:pt idx="44">
                  <c:v>0.042682926829</c:v>
                </c:pt>
                <c:pt idx="45">
                  <c:v>0.044715447154</c:v>
                </c:pt>
                <c:pt idx="46">
                  <c:v>0.044715447154</c:v>
                </c:pt>
                <c:pt idx="47">
                  <c:v>0.04674796748</c:v>
                </c:pt>
                <c:pt idx="48">
                  <c:v>0.04674796748</c:v>
                </c:pt>
                <c:pt idx="49">
                  <c:v>0.048780487805</c:v>
                </c:pt>
                <c:pt idx="50">
                  <c:v>0.048780487805</c:v>
                </c:pt>
                <c:pt idx="51">
                  <c:v>0.05081300813</c:v>
                </c:pt>
                <c:pt idx="52">
                  <c:v>0.05081300813</c:v>
                </c:pt>
                <c:pt idx="53">
                  <c:v>0.052845528455</c:v>
                </c:pt>
                <c:pt idx="54">
                  <c:v>0.052845528455</c:v>
                </c:pt>
                <c:pt idx="55">
                  <c:v>0.056910569106</c:v>
                </c:pt>
                <c:pt idx="56">
                  <c:v>0.056910569106</c:v>
                </c:pt>
                <c:pt idx="57">
                  <c:v>0.058943089431</c:v>
                </c:pt>
                <c:pt idx="58">
                  <c:v>0.058943089431</c:v>
                </c:pt>
                <c:pt idx="59">
                  <c:v>0.065040650407</c:v>
                </c:pt>
                <c:pt idx="60">
                  <c:v>0.065040650407</c:v>
                </c:pt>
                <c:pt idx="61">
                  <c:v>0.073170731707</c:v>
                </c:pt>
                <c:pt idx="62">
                  <c:v>0.073170731707</c:v>
                </c:pt>
                <c:pt idx="63">
                  <c:v>0.081300813008</c:v>
                </c:pt>
                <c:pt idx="64">
                  <c:v>0.081300813008</c:v>
                </c:pt>
                <c:pt idx="65">
                  <c:v>0.085365853659</c:v>
                </c:pt>
                <c:pt idx="66">
                  <c:v>0.085365853659</c:v>
                </c:pt>
                <c:pt idx="67">
                  <c:v>0.089430894309</c:v>
                </c:pt>
                <c:pt idx="68">
                  <c:v>0.089430894309</c:v>
                </c:pt>
                <c:pt idx="69">
                  <c:v>0.091463414634</c:v>
                </c:pt>
                <c:pt idx="70">
                  <c:v>0.091463414634</c:v>
                </c:pt>
                <c:pt idx="71">
                  <c:v>0.093495934959</c:v>
                </c:pt>
                <c:pt idx="72">
                  <c:v>0.093495934959</c:v>
                </c:pt>
                <c:pt idx="73">
                  <c:v>0.095528455285</c:v>
                </c:pt>
                <c:pt idx="74">
                  <c:v>0.095528455285</c:v>
                </c:pt>
                <c:pt idx="75">
                  <c:v>0.09756097561</c:v>
                </c:pt>
                <c:pt idx="76">
                  <c:v>0.09756097561</c:v>
                </c:pt>
                <c:pt idx="77">
                  <c:v>0.10162601626</c:v>
                </c:pt>
                <c:pt idx="78">
                  <c:v>0.10162601626</c:v>
                </c:pt>
                <c:pt idx="79">
                  <c:v>0.103658536585</c:v>
                </c:pt>
                <c:pt idx="80">
                  <c:v>0.103658536585</c:v>
                </c:pt>
                <c:pt idx="81">
                  <c:v>0.105691056911</c:v>
                </c:pt>
                <c:pt idx="82">
                  <c:v>0.105691056911</c:v>
                </c:pt>
                <c:pt idx="83">
                  <c:v>0.107723577236</c:v>
                </c:pt>
                <c:pt idx="84">
                  <c:v>0.107723577236</c:v>
                </c:pt>
                <c:pt idx="85">
                  <c:v>0.121951219512</c:v>
                </c:pt>
                <c:pt idx="86">
                  <c:v>0.121951219512</c:v>
                </c:pt>
                <c:pt idx="87">
                  <c:v>0.128048780488</c:v>
                </c:pt>
                <c:pt idx="88">
                  <c:v>0.128048780488</c:v>
                </c:pt>
                <c:pt idx="89">
                  <c:v>0.132113821138</c:v>
                </c:pt>
                <c:pt idx="90">
                  <c:v>0.132113821138</c:v>
                </c:pt>
                <c:pt idx="91">
                  <c:v>0.138211382114</c:v>
                </c:pt>
                <c:pt idx="92">
                  <c:v>0.138211382114</c:v>
                </c:pt>
                <c:pt idx="93">
                  <c:v>0.142276422764</c:v>
                </c:pt>
                <c:pt idx="94">
                  <c:v>0.142276422764</c:v>
                </c:pt>
                <c:pt idx="95">
                  <c:v>0.144308943089</c:v>
                </c:pt>
                <c:pt idx="96">
                  <c:v>0.144308943089</c:v>
                </c:pt>
                <c:pt idx="97">
                  <c:v>0.150406504065</c:v>
                </c:pt>
                <c:pt idx="98">
                  <c:v>0.150406504065</c:v>
                </c:pt>
                <c:pt idx="99">
                  <c:v>0.156504065041</c:v>
                </c:pt>
                <c:pt idx="100">
                  <c:v>0.156504065041</c:v>
                </c:pt>
                <c:pt idx="101">
                  <c:v>0.160569105691</c:v>
                </c:pt>
                <c:pt idx="102">
                  <c:v>0.160569105691</c:v>
                </c:pt>
                <c:pt idx="103">
                  <c:v>0.172764227642</c:v>
                </c:pt>
                <c:pt idx="104">
                  <c:v>0.172764227642</c:v>
                </c:pt>
                <c:pt idx="105">
                  <c:v>0.174796747967</c:v>
                </c:pt>
                <c:pt idx="106">
                  <c:v>0.174796747967</c:v>
                </c:pt>
                <c:pt idx="107">
                  <c:v>0.176829268293</c:v>
                </c:pt>
                <c:pt idx="108">
                  <c:v>0.176829268293</c:v>
                </c:pt>
                <c:pt idx="109">
                  <c:v>0.182926829268</c:v>
                </c:pt>
                <c:pt idx="110">
                  <c:v>0.182926829268</c:v>
                </c:pt>
                <c:pt idx="111">
                  <c:v>0.191056910569</c:v>
                </c:pt>
                <c:pt idx="112">
                  <c:v>0.191056910569</c:v>
                </c:pt>
                <c:pt idx="113">
                  <c:v>0.19512195122</c:v>
                </c:pt>
                <c:pt idx="114">
                  <c:v>0.19512195122</c:v>
                </c:pt>
                <c:pt idx="115">
                  <c:v>0.201219512195</c:v>
                </c:pt>
                <c:pt idx="116">
                  <c:v>0.201219512195</c:v>
                </c:pt>
                <c:pt idx="117">
                  <c:v>0.215447154472</c:v>
                </c:pt>
                <c:pt idx="118">
                  <c:v>0.215447154472</c:v>
                </c:pt>
                <c:pt idx="119">
                  <c:v>0.221544715447</c:v>
                </c:pt>
                <c:pt idx="120">
                  <c:v>0.221544715447</c:v>
                </c:pt>
                <c:pt idx="121">
                  <c:v>0.225609756098</c:v>
                </c:pt>
                <c:pt idx="122">
                  <c:v>0.225609756098</c:v>
                </c:pt>
                <c:pt idx="123">
                  <c:v>0.231707317073</c:v>
                </c:pt>
                <c:pt idx="124">
                  <c:v>0.231707317073</c:v>
                </c:pt>
                <c:pt idx="125">
                  <c:v>0.233739837398</c:v>
                </c:pt>
                <c:pt idx="126">
                  <c:v>0.233739837398</c:v>
                </c:pt>
                <c:pt idx="127">
                  <c:v>0.237804878049</c:v>
                </c:pt>
                <c:pt idx="128">
                  <c:v>0.237804878049</c:v>
                </c:pt>
                <c:pt idx="129">
                  <c:v>0.243902439024</c:v>
                </c:pt>
                <c:pt idx="130">
                  <c:v>0.243902439024</c:v>
                </c:pt>
                <c:pt idx="131">
                  <c:v>0.25</c:v>
                </c:pt>
                <c:pt idx="132">
                  <c:v>0.25</c:v>
                </c:pt>
                <c:pt idx="133">
                  <c:v>0.25406504065</c:v>
                </c:pt>
                <c:pt idx="134">
                  <c:v>0.25406504065</c:v>
                </c:pt>
                <c:pt idx="135">
                  <c:v>0.256097560976</c:v>
                </c:pt>
                <c:pt idx="136">
                  <c:v>0.256097560976</c:v>
                </c:pt>
                <c:pt idx="137">
                  <c:v>0.264227642276</c:v>
                </c:pt>
                <c:pt idx="138">
                  <c:v>0.264227642276</c:v>
                </c:pt>
                <c:pt idx="139">
                  <c:v>0.266260162602</c:v>
                </c:pt>
                <c:pt idx="140">
                  <c:v>0.266260162602</c:v>
                </c:pt>
                <c:pt idx="141">
                  <c:v>0.268292682927</c:v>
                </c:pt>
                <c:pt idx="142">
                  <c:v>0.268292682927</c:v>
                </c:pt>
                <c:pt idx="143">
                  <c:v>0.274390243902</c:v>
                </c:pt>
                <c:pt idx="144">
                  <c:v>0.274390243902</c:v>
                </c:pt>
                <c:pt idx="145">
                  <c:v>0.278455284553</c:v>
                </c:pt>
                <c:pt idx="146">
                  <c:v>0.278455284553</c:v>
                </c:pt>
                <c:pt idx="147">
                  <c:v>0.286585365854</c:v>
                </c:pt>
                <c:pt idx="148">
                  <c:v>0.286585365854</c:v>
                </c:pt>
                <c:pt idx="149">
                  <c:v>0.30487804878</c:v>
                </c:pt>
                <c:pt idx="150">
                  <c:v>0.30487804878</c:v>
                </c:pt>
                <c:pt idx="151">
                  <c:v>0.306910569106</c:v>
                </c:pt>
                <c:pt idx="152">
                  <c:v>0.306910569106</c:v>
                </c:pt>
                <c:pt idx="153">
                  <c:v>0.313008130081</c:v>
                </c:pt>
                <c:pt idx="154">
                  <c:v>0.313008130081</c:v>
                </c:pt>
                <c:pt idx="155">
                  <c:v>0.327235772358</c:v>
                </c:pt>
                <c:pt idx="156">
                  <c:v>0.327235772358</c:v>
                </c:pt>
                <c:pt idx="157">
                  <c:v>0.331300813008</c:v>
                </c:pt>
                <c:pt idx="158">
                  <c:v>0.331300813008</c:v>
                </c:pt>
                <c:pt idx="159">
                  <c:v>0.333333333333</c:v>
                </c:pt>
                <c:pt idx="160">
                  <c:v>0.333333333333</c:v>
                </c:pt>
                <c:pt idx="161">
                  <c:v>0.335365853659</c:v>
                </c:pt>
                <c:pt idx="162">
                  <c:v>0.335365853659</c:v>
                </c:pt>
                <c:pt idx="163">
                  <c:v>0.355691056911</c:v>
                </c:pt>
                <c:pt idx="164">
                  <c:v>0.355691056911</c:v>
                </c:pt>
                <c:pt idx="165">
                  <c:v>0.371951219512</c:v>
                </c:pt>
                <c:pt idx="166">
                  <c:v>0.371951219512</c:v>
                </c:pt>
                <c:pt idx="167">
                  <c:v>0.380081300813</c:v>
                </c:pt>
                <c:pt idx="168">
                  <c:v>0.380081300813</c:v>
                </c:pt>
                <c:pt idx="169">
                  <c:v>0.390243902439</c:v>
                </c:pt>
                <c:pt idx="170">
                  <c:v>0.390243902439</c:v>
                </c:pt>
                <c:pt idx="171">
                  <c:v>0.392276422764</c:v>
                </c:pt>
                <c:pt idx="172">
                  <c:v>0.392276422764</c:v>
                </c:pt>
                <c:pt idx="173">
                  <c:v>0.394308943089</c:v>
                </c:pt>
                <c:pt idx="174">
                  <c:v>0.394308943089</c:v>
                </c:pt>
                <c:pt idx="175">
                  <c:v>0.396341463415</c:v>
                </c:pt>
                <c:pt idx="176">
                  <c:v>0.396341463415</c:v>
                </c:pt>
                <c:pt idx="177">
                  <c:v>0.404471544715</c:v>
                </c:pt>
                <c:pt idx="178">
                  <c:v>0.404471544715</c:v>
                </c:pt>
                <c:pt idx="179">
                  <c:v>0.416666666667</c:v>
                </c:pt>
                <c:pt idx="180">
                  <c:v>0.416666666667</c:v>
                </c:pt>
                <c:pt idx="181">
                  <c:v>0.420731707317</c:v>
                </c:pt>
                <c:pt idx="182">
                  <c:v>0.420731707317</c:v>
                </c:pt>
                <c:pt idx="183">
                  <c:v>0.426829268293</c:v>
                </c:pt>
                <c:pt idx="184">
                  <c:v>0.426829268293</c:v>
                </c:pt>
                <c:pt idx="185">
                  <c:v>0.44918699187</c:v>
                </c:pt>
                <c:pt idx="186">
                  <c:v>0.44918699187</c:v>
                </c:pt>
                <c:pt idx="187">
                  <c:v>0.451219512195</c:v>
                </c:pt>
                <c:pt idx="188">
                  <c:v>0.451219512195</c:v>
                </c:pt>
                <c:pt idx="189">
                  <c:v>0.45325203252</c:v>
                </c:pt>
                <c:pt idx="190">
                  <c:v>0.45325203252</c:v>
                </c:pt>
                <c:pt idx="191">
                  <c:v>0.461382113821</c:v>
                </c:pt>
                <c:pt idx="192">
                  <c:v>0.461382113821</c:v>
                </c:pt>
                <c:pt idx="193">
                  <c:v>0.465447154472</c:v>
                </c:pt>
                <c:pt idx="194">
                  <c:v>0.465447154472</c:v>
                </c:pt>
                <c:pt idx="195">
                  <c:v>0.489837398374</c:v>
                </c:pt>
                <c:pt idx="196">
                  <c:v>0.489837398374</c:v>
                </c:pt>
                <c:pt idx="197">
                  <c:v>0.5</c:v>
                </c:pt>
                <c:pt idx="198">
                  <c:v>0.5</c:v>
                </c:pt>
                <c:pt idx="199">
                  <c:v>0.50406504065</c:v>
                </c:pt>
                <c:pt idx="200">
                  <c:v>0.50406504065</c:v>
                </c:pt>
                <c:pt idx="201">
                  <c:v>0.506097560976</c:v>
                </c:pt>
                <c:pt idx="202">
                  <c:v>0.506097560976</c:v>
                </c:pt>
                <c:pt idx="203">
                  <c:v>0.528455284553</c:v>
                </c:pt>
                <c:pt idx="204">
                  <c:v>0.528455284553</c:v>
                </c:pt>
                <c:pt idx="205">
                  <c:v>0.536585365854</c:v>
                </c:pt>
                <c:pt idx="206">
                  <c:v>0.536585365854</c:v>
                </c:pt>
                <c:pt idx="207">
                  <c:v>0.538617886179</c:v>
                </c:pt>
                <c:pt idx="208">
                  <c:v>0.538617886179</c:v>
                </c:pt>
                <c:pt idx="209">
                  <c:v>0.544715447154</c:v>
                </c:pt>
                <c:pt idx="210">
                  <c:v>0.544715447154</c:v>
                </c:pt>
                <c:pt idx="211">
                  <c:v>0.552845528455</c:v>
                </c:pt>
                <c:pt idx="212">
                  <c:v>0.552845528455</c:v>
                </c:pt>
                <c:pt idx="213">
                  <c:v>0.55487804878</c:v>
                </c:pt>
                <c:pt idx="214">
                  <c:v>0.55487804878</c:v>
                </c:pt>
                <c:pt idx="215">
                  <c:v>0.556910569106</c:v>
                </c:pt>
                <c:pt idx="216">
                  <c:v>0.556910569106</c:v>
                </c:pt>
                <c:pt idx="217">
                  <c:v>0.563008130081</c:v>
                </c:pt>
                <c:pt idx="218">
                  <c:v>0.563008130081</c:v>
                </c:pt>
                <c:pt idx="219">
                  <c:v>0.565040650407</c:v>
                </c:pt>
                <c:pt idx="220">
                  <c:v>0.565040650407</c:v>
                </c:pt>
                <c:pt idx="221">
                  <c:v>0.587398373984</c:v>
                </c:pt>
                <c:pt idx="222">
                  <c:v>0.587398373984</c:v>
                </c:pt>
                <c:pt idx="223">
                  <c:v>0.59756097561</c:v>
                </c:pt>
                <c:pt idx="224">
                  <c:v>0.59756097561</c:v>
                </c:pt>
                <c:pt idx="225">
                  <c:v>0.60162601626</c:v>
                </c:pt>
                <c:pt idx="226">
                  <c:v>0.60162601626</c:v>
                </c:pt>
                <c:pt idx="227">
                  <c:v>0.615853658537</c:v>
                </c:pt>
                <c:pt idx="228">
                  <c:v>0.615853658537</c:v>
                </c:pt>
                <c:pt idx="229">
                  <c:v>0.619918699187</c:v>
                </c:pt>
                <c:pt idx="230">
                  <c:v>0.619918699187</c:v>
                </c:pt>
                <c:pt idx="231">
                  <c:v>0.630081300813</c:v>
                </c:pt>
                <c:pt idx="232">
                  <c:v>0.630081300813</c:v>
                </c:pt>
                <c:pt idx="233">
                  <c:v>0.634146341463</c:v>
                </c:pt>
                <c:pt idx="234">
                  <c:v>0.634146341463</c:v>
                </c:pt>
                <c:pt idx="235">
                  <c:v>0.640243902439</c:v>
                </c:pt>
                <c:pt idx="236">
                  <c:v>0.640243902439</c:v>
                </c:pt>
                <c:pt idx="237">
                  <c:v>0.644308943089</c:v>
                </c:pt>
                <c:pt idx="238">
                  <c:v>0.644308943089</c:v>
                </c:pt>
                <c:pt idx="239">
                  <c:v>0.70325203252</c:v>
                </c:pt>
                <c:pt idx="240">
                  <c:v>0.70325203252</c:v>
                </c:pt>
                <c:pt idx="241">
                  <c:v>0.709349593496</c:v>
                </c:pt>
                <c:pt idx="242">
                  <c:v>0.709349593496</c:v>
                </c:pt>
                <c:pt idx="243">
                  <c:v>0.713414634146</c:v>
                </c:pt>
                <c:pt idx="244">
                  <c:v>0.713414634146</c:v>
                </c:pt>
                <c:pt idx="245">
                  <c:v>0.788617886179</c:v>
                </c:pt>
                <c:pt idx="246">
                  <c:v>0.788617886179</c:v>
                </c:pt>
                <c:pt idx="247">
                  <c:v>0.79674796748</c:v>
                </c:pt>
                <c:pt idx="248">
                  <c:v>0.79674796748</c:v>
                </c:pt>
                <c:pt idx="249">
                  <c:v>0.906504065041</c:v>
                </c:pt>
                <c:pt idx="250">
                  <c:v>0.906504065041</c:v>
                </c:pt>
                <c:pt idx="251">
                  <c:v>1</c:v>
                </c:pt>
              </c:numCache>
            </c:numRef>
          </c:xVal>
          <c:yVal>
            <c:numRef>
              <c:f>'Chart Data'!$D$2:$D$253</c:f>
              <c:numCache>
                <c:formatCode>0.00</c:formatCode>
                <c:ptCount val="252"/>
                <c:pt idx="0">
                  <c:v>0</c:v>
                </c:pt>
                <c:pt idx="1">
                  <c:v>0.002066115702</c:v>
                </c:pt>
                <c:pt idx="2">
                  <c:v>0.035123966942</c:v>
                </c:pt>
                <c:pt idx="3">
                  <c:v>0.035123966942</c:v>
                </c:pt>
                <c:pt idx="4">
                  <c:v>0.037190082645</c:v>
                </c:pt>
                <c:pt idx="5">
                  <c:v>0.037190082645</c:v>
                </c:pt>
                <c:pt idx="6">
                  <c:v>0.173553719008</c:v>
                </c:pt>
                <c:pt idx="7">
                  <c:v>0.173553719008</c:v>
                </c:pt>
                <c:pt idx="8">
                  <c:v>0.177685950413</c:v>
                </c:pt>
                <c:pt idx="9">
                  <c:v>0.177685950413</c:v>
                </c:pt>
                <c:pt idx="10">
                  <c:v>0.214876033058</c:v>
                </c:pt>
                <c:pt idx="11">
                  <c:v>0.214876033058</c:v>
                </c:pt>
                <c:pt idx="12">
                  <c:v>0.221074380165</c:v>
                </c:pt>
                <c:pt idx="13">
                  <c:v>0.221074380165</c:v>
                </c:pt>
                <c:pt idx="14">
                  <c:v>0.227272727273</c:v>
                </c:pt>
                <c:pt idx="15">
                  <c:v>0.227272727273</c:v>
                </c:pt>
                <c:pt idx="16">
                  <c:v>0.252066115702</c:v>
                </c:pt>
                <c:pt idx="17">
                  <c:v>0.252066115702</c:v>
                </c:pt>
                <c:pt idx="18">
                  <c:v>0.278925619835</c:v>
                </c:pt>
                <c:pt idx="19">
                  <c:v>0.278925619835</c:v>
                </c:pt>
                <c:pt idx="20">
                  <c:v>0.349173553719</c:v>
                </c:pt>
                <c:pt idx="21">
                  <c:v>0.349173553719</c:v>
                </c:pt>
                <c:pt idx="22">
                  <c:v>0.351239669421</c:v>
                </c:pt>
                <c:pt idx="23">
                  <c:v>0.351239669421</c:v>
                </c:pt>
                <c:pt idx="24">
                  <c:v>0.365702479339</c:v>
                </c:pt>
                <c:pt idx="25">
                  <c:v>0.365702479339</c:v>
                </c:pt>
                <c:pt idx="26">
                  <c:v>0.411157024793</c:v>
                </c:pt>
                <c:pt idx="27">
                  <c:v>0.411157024793</c:v>
                </c:pt>
                <c:pt idx="28">
                  <c:v>0.413223140496</c:v>
                </c:pt>
                <c:pt idx="29">
                  <c:v>0.413223140496</c:v>
                </c:pt>
                <c:pt idx="30">
                  <c:v>0.417355371901</c:v>
                </c:pt>
                <c:pt idx="31">
                  <c:v>0.417355371901</c:v>
                </c:pt>
                <c:pt idx="32">
                  <c:v>0.425619834711</c:v>
                </c:pt>
                <c:pt idx="33">
                  <c:v>0.425619834711</c:v>
                </c:pt>
                <c:pt idx="34">
                  <c:v>0.429752066116</c:v>
                </c:pt>
                <c:pt idx="35">
                  <c:v>0.429752066116</c:v>
                </c:pt>
                <c:pt idx="36">
                  <c:v>0.45867768595</c:v>
                </c:pt>
                <c:pt idx="37">
                  <c:v>0.45867768595</c:v>
                </c:pt>
                <c:pt idx="38">
                  <c:v>0.460743801653</c:v>
                </c:pt>
                <c:pt idx="39">
                  <c:v>0.460743801653</c:v>
                </c:pt>
                <c:pt idx="40">
                  <c:v>0.5</c:v>
                </c:pt>
                <c:pt idx="41">
                  <c:v>0.5</c:v>
                </c:pt>
                <c:pt idx="42">
                  <c:v>0.502066115702</c:v>
                </c:pt>
                <c:pt idx="43">
                  <c:v>0.502066115702</c:v>
                </c:pt>
                <c:pt idx="44">
                  <c:v>0.520661157025</c:v>
                </c:pt>
                <c:pt idx="45">
                  <c:v>0.520661157025</c:v>
                </c:pt>
                <c:pt idx="46">
                  <c:v>0.673553719008</c:v>
                </c:pt>
                <c:pt idx="47">
                  <c:v>0.673553719008</c:v>
                </c:pt>
                <c:pt idx="48">
                  <c:v>0.685950413223</c:v>
                </c:pt>
                <c:pt idx="49">
                  <c:v>0.685950413223</c:v>
                </c:pt>
                <c:pt idx="50">
                  <c:v>0.692148760331</c:v>
                </c:pt>
                <c:pt idx="51">
                  <c:v>0.692148760331</c:v>
                </c:pt>
                <c:pt idx="52">
                  <c:v>0.696280991736</c:v>
                </c:pt>
                <c:pt idx="53">
                  <c:v>0.696280991736</c:v>
                </c:pt>
                <c:pt idx="54">
                  <c:v>0.698347107438</c:v>
                </c:pt>
                <c:pt idx="55">
                  <c:v>0.698347107438</c:v>
                </c:pt>
                <c:pt idx="56">
                  <c:v>0.70041322314</c:v>
                </c:pt>
                <c:pt idx="57">
                  <c:v>0.70041322314</c:v>
                </c:pt>
                <c:pt idx="58">
                  <c:v>0.702479338843</c:v>
                </c:pt>
                <c:pt idx="59">
                  <c:v>0.702479338843</c:v>
                </c:pt>
                <c:pt idx="60">
                  <c:v>0.704545454545</c:v>
                </c:pt>
                <c:pt idx="61">
                  <c:v>0.704545454545</c:v>
                </c:pt>
                <c:pt idx="62">
                  <c:v>0.714876033058</c:v>
                </c:pt>
                <c:pt idx="63">
                  <c:v>0.714876033058</c:v>
                </c:pt>
                <c:pt idx="64">
                  <c:v>0.71694214876</c:v>
                </c:pt>
                <c:pt idx="65">
                  <c:v>0.71694214876</c:v>
                </c:pt>
                <c:pt idx="66">
                  <c:v>0.723140495868</c:v>
                </c:pt>
                <c:pt idx="67">
                  <c:v>0.723140495868</c:v>
                </c:pt>
                <c:pt idx="68">
                  <c:v>0.729338842975</c:v>
                </c:pt>
                <c:pt idx="69">
                  <c:v>0.729338842975</c:v>
                </c:pt>
                <c:pt idx="70">
                  <c:v>0.731404958678</c:v>
                </c:pt>
                <c:pt idx="71">
                  <c:v>0.731404958678</c:v>
                </c:pt>
                <c:pt idx="72">
                  <c:v>0.73347107438</c:v>
                </c:pt>
                <c:pt idx="73">
                  <c:v>0.73347107438</c:v>
                </c:pt>
                <c:pt idx="74">
                  <c:v>0.737603305785</c:v>
                </c:pt>
                <c:pt idx="75">
                  <c:v>0.737603305785</c:v>
                </c:pt>
                <c:pt idx="76">
                  <c:v>0.739669421488</c:v>
                </c:pt>
                <c:pt idx="77">
                  <c:v>0.739669421488</c:v>
                </c:pt>
                <c:pt idx="78">
                  <c:v>0.745867768595</c:v>
                </c:pt>
                <c:pt idx="79">
                  <c:v>0.745867768595</c:v>
                </c:pt>
                <c:pt idx="80">
                  <c:v>0.747933884298</c:v>
                </c:pt>
                <c:pt idx="81">
                  <c:v>0.747933884298</c:v>
                </c:pt>
                <c:pt idx="82">
                  <c:v>0.754132231405</c:v>
                </c:pt>
                <c:pt idx="83">
                  <c:v>0.754132231405</c:v>
                </c:pt>
                <c:pt idx="84">
                  <c:v>0.75826446281</c:v>
                </c:pt>
                <c:pt idx="85">
                  <c:v>0.75826446281</c:v>
                </c:pt>
                <c:pt idx="86">
                  <c:v>0.760330578512</c:v>
                </c:pt>
                <c:pt idx="87">
                  <c:v>0.760330578512</c:v>
                </c:pt>
                <c:pt idx="88">
                  <c:v>0.762396694215</c:v>
                </c:pt>
                <c:pt idx="89">
                  <c:v>0.762396694215</c:v>
                </c:pt>
                <c:pt idx="90">
                  <c:v>0.764462809917</c:v>
                </c:pt>
                <c:pt idx="91">
                  <c:v>0.764462809917</c:v>
                </c:pt>
                <c:pt idx="92">
                  <c:v>0.77479338843</c:v>
                </c:pt>
                <c:pt idx="93">
                  <c:v>0.77479338843</c:v>
                </c:pt>
                <c:pt idx="94">
                  <c:v>0.776859504132</c:v>
                </c:pt>
                <c:pt idx="95">
                  <c:v>0.776859504132</c:v>
                </c:pt>
                <c:pt idx="96">
                  <c:v>0.780991735537</c:v>
                </c:pt>
                <c:pt idx="97">
                  <c:v>0.780991735537</c:v>
                </c:pt>
                <c:pt idx="98">
                  <c:v>0.78305785124</c:v>
                </c:pt>
                <c:pt idx="99">
                  <c:v>0.78305785124</c:v>
                </c:pt>
                <c:pt idx="100">
                  <c:v>0.785123966942</c:v>
                </c:pt>
                <c:pt idx="101">
                  <c:v>0.785123966942</c:v>
                </c:pt>
                <c:pt idx="102">
                  <c:v>0.787190082645</c:v>
                </c:pt>
                <c:pt idx="103">
                  <c:v>0.787190082645</c:v>
                </c:pt>
                <c:pt idx="104">
                  <c:v>0.793388429752</c:v>
                </c:pt>
                <c:pt idx="105">
                  <c:v>0.793388429752</c:v>
                </c:pt>
                <c:pt idx="106">
                  <c:v>0.795454545455</c:v>
                </c:pt>
                <c:pt idx="107">
                  <c:v>0.795454545455</c:v>
                </c:pt>
                <c:pt idx="108">
                  <c:v>0.801652892562</c:v>
                </c:pt>
                <c:pt idx="109">
                  <c:v>0.801652892562</c:v>
                </c:pt>
                <c:pt idx="110">
                  <c:v>0.803719008264</c:v>
                </c:pt>
                <c:pt idx="111">
                  <c:v>0.803719008264</c:v>
                </c:pt>
                <c:pt idx="112">
                  <c:v>0.805785123967</c:v>
                </c:pt>
                <c:pt idx="113">
                  <c:v>0.805785123967</c:v>
                </c:pt>
                <c:pt idx="114">
                  <c:v>0.809917355372</c:v>
                </c:pt>
                <c:pt idx="115">
                  <c:v>0.809917355372</c:v>
                </c:pt>
                <c:pt idx="116">
                  <c:v>0.814049586777</c:v>
                </c:pt>
                <c:pt idx="117">
                  <c:v>0.814049586777</c:v>
                </c:pt>
                <c:pt idx="118">
                  <c:v>0.816115702479</c:v>
                </c:pt>
                <c:pt idx="119">
                  <c:v>0.816115702479</c:v>
                </c:pt>
                <c:pt idx="120">
                  <c:v>0.820247933884</c:v>
                </c:pt>
                <c:pt idx="121">
                  <c:v>0.820247933884</c:v>
                </c:pt>
                <c:pt idx="122">
                  <c:v>0.822314049587</c:v>
                </c:pt>
                <c:pt idx="123">
                  <c:v>0.822314049587</c:v>
                </c:pt>
                <c:pt idx="124">
                  <c:v>0.824380165289</c:v>
                </c:pt>
                <c:pt idx="125">
                  <c:v>0.824380165289</c:v>
                </c:pt>
                <c:pt idx="126">
                  <c:v>0.830578512397</c:v>
                </c:pt>
                <c:pt idx="127">
                  <c:v>0.830578512397</c:v>
                </c:pt>
                <c:pt idx="128">
                  <c:v>0.832644628099</c:v>
                </c:pt>
                <c:pt idx="129">
                  <c:v>0.832644628099</c:v>
                </c:pt>
                <c:pt idx="130">
                  <c:v>0.836776859504</c:v>
                </c:pt>
                <c:pt idx="131">
                  <c:v>0.836776859504</c:v>
                </c:pt>
                <c:pt idx="132">
                  <c:v>0.838842975207</c:v>
                </c:pt>
                <c:pt idx="133">
                  <c:v>0.838842975207</c:v>
                </c:pt>
                <c:pt idx="134">
                  <c:v>0.842975206612</c:v>
                </c:pt>
                <c:pt idx="135">
                  <c:v>0.842975206612</c:v>
                </c:pt>
                <c:pt idx="136">
                  <c:v>0.845041322314</c:v>
                </c:pt>
                <c:pt idx="137">
                  <c:v>0.845041322314</c:v>
                </c:pt>
                <c:pt idx="138">
                  <c:v>0.847107438017</c:v>
                </c:pt>
                <c:pt idx="139">
                  <c:v>0.847107438017</c:v>
                </c:pt>
                <c:pt idx="140">
                  <c:v>0.849173553719</c:v>
                </c:pt>
                <c:pt idx="141">
                  <c:v>0.849173553719</c:v>
                </c:pt>
                <c:pt idx="142">
                  <c:v>0.851239669421</c:v>
                </c:pt>
                <c:pt idx="143">
                  <c:v>0.851239669421</c:v>
                </c:pt>
                <c:pt idx="144">
                  <c:v>0.853305785124</c:v>
                </c:pt>
                <c:pt idx="145">
                  <c:v>0.853305785124</c:v>
                </c:pt>
                <c:pt idx="146">
                  <c:v>0.855371900826</c:v>
                </c:pt>
                <c:pt idx="147">
                  <c:v>0.855371900826</c:v>
                </c:pt>
                <c:pt idx="148">
                  <c:v>0.859504132231</c:v>
                </c:pt>
                <c:pt idx="149">
                  <c:v>0.859504132231</c:v>
                </c:pt>
                <c:pt idx="150">
                  <c:v>0.863636363636</c:v>
                </c:pt>
                <c:pt idx="151">
                  <c:v>0.863636363636</c:v>
                </c:pt>
                <c:pt idx="152">
                  <c:v>0.865702479339</c:v>
                </c:pt>
                <c:pt idx="153">
                  <c:v>0.865702479339</c:v>
                </c:pt>
                <c:pt idx="154">
                  <c:v>0.867768595041</c:v>
                </c:pt>
                <c:pt idx="155">
                  <c:v>0.867768595041</c:v>
                </c:pt>
                <c:pt idx="156">
                  <c:v>0.871900826446</c:v>
                </c:pt>
                <c:pt idx="157">
                  <c:v>0.871900826446</c:v>
                </c:pt>
                <c:pt idx="158">
                  <c:v>0.878099173554</c:v>
                </c:pt>
                <c:pt idx="159">
                  <c:v>0.878099173554</c:v>
                </c:pt>
                <c:pt idx="160">
                  <c:v>0.880165289256</c:v>
                </c:pt>
                <c:pt idx="161">
                  <c:v>0.880165289256</c:v>
                </c:pt>
                <c:pt idx="162">
                  <c:v>0.882231404959</c:v>
                </c:pt>
                <c:pt idx="163">
                  <c:v>0.882231404959</c:v>
                </c:pt>
                <c:pt idx="164">
                  <c:v>0.884297520661</c:v>
                </c:pt>
                <c:pt idx="165">
                  <c:v>0.884297520661</c:v>
                </c:pt>
                <c:pt idx="166">
                  <c:v>0.886363636364</c:v>
                </c:pt>
                <c:pt idx="167">
                  <c:v>0.886363636364</c:v>
                </c:pt>
                <c:pt idx="168">
                  <c:v>0.888429752066</c:v>
                </c:pt>
                <c:pt idx="169">
                  <c:v>0.888429752066</c:v>
                </c:pt>
                <c:pt idx="170">
                  <c:v>0.890495867769</c:v>
                </c:pt>
                <c:pt idx="171">
                  <c:v>0.890495867769</c:v>
                </c:pt>
                <c:pt idx="172">
                  <c:v>0.892561983471</c:v>
                </c:pt>
                <c:pt idx="173">
                  <c:v>0.892561983471</c:v>
                </c:pt>
                <c:pt idx="174">
                  <c:v>0.894628099174</c:v>
                </c:pt>
                <c:pt idx="175">
                  <c:v>0.894628099174</c:v>
                </c:pt>
                <c:pt idx="176">
                  <c:v>0.900826446281</c:v>
                </c:pt>
                <c:pt idx="177">
                  <c:v>0.900826446281</c:v>
                </c:pt>
                <c:pt idx="178">
                  <c:v>0.902892561983</c:v>
                </c:pt>
                <c:pt idx="179">
                  <c:v>0.902892561983</c:v>
                </c:pt>
                <c:pt idx="180">
                  <c:v>0.904958677686</c:v>
                </c:pt>
                <c:pt idx="181">
                  <c:v>0.904958677686</c:v>
                </c:pt>
                <c:pt idx="182">
                  <c:v>0.907024793388</c:v>
                </c:pt>
                <c:pt idx="183">
                  <c:v>0.907024793388</c:v>
                </c:pt>
                <c:pt idx="184">
                  <c:v>0.909090909091</c:v>
                </c:pt>
                <c:pt idx="185">
                  <c:v>0.909090909091</c:v>
                </c:pt>
                <c:pt idx="186">
                  <c:v>0.911157024793</c:v>
                </c:pt>
                <c:pt idx="187">
                  <c:v>0.911157024793</c:v>
                </c:pt>
                <c:pt idx="188">
                  <c:v>0.913223140496</c:v>
                </c:pt>
                <c:pt idx="189">
                  <c:v>0.913223140496</c:v>
                </c:pt>
                <c:pt idx="190">
                  <c:v>0.915289256198</c:v>
                </c:pt>
                <c:pt idx="191">
                  <c:v>0.915289256198</c:v>
                </c:pt>
                <c:pt idx="192">
                  <c:v>0.917355371901</c:v>
                </c:pt>
                <c:pt idx="193">
                  <c:v>0.917355371901</c:v>
                </c:pt>
                <c:pt idx="194">
                  <c:v>0.919421487603</c:v>
                </c:pt>
                <c:pt idx="195">
                  <c:v>0.919421487603</c:v>
                </c:pt>
                <c:pt idx="196">
                  <c:v>0.921487603306</c:v>
                </c:pt>
                <c:pt idx="197">
                  <c:v>0.921487603306</c:v>
                </c:pt>
                <c:pt idx="198">
                  <c:v>0.923553719008</c:v>
                </c:pt>
                <c:pt idx="199">
                  <c:v>0.923553719008</c:v>
                </c:pt>
                <c:pt idx="200">
                  <c:v>0.925619834711</c:v>
                </c:pt>
                <c:pt idx="201">
                  <c:v>0.925619834711</c:v>
                </c:pt>
                <c:pt idx="202">
                  <c:v>0.927685950413</c:v>
                </c:pt>
                <c:pt idx="203">
                  <c:v>0.927685950413</c:v>
                </c:pt>
                <c:pt idx="204">
                  <c:v>0.929752066116</c:v>
                </c:pt>
                <c:pt idx="205">
                  <c:v>0.929752066116</c:v>
                </c:pt>
                <c:pt idx="206">
                  <c:v>0.935950413223</c:v>
                </c:pt>
                <c:pt idx="207">
                  <c:v>0.935950413223</c:v>
                </c:pt>
                <c:pt idx="208">
                  <c:v>0.938016528926</c:v>
                </c:pt>
                <c:pt idx="209">
                  <c:v>0.938016528926</c:v>
                </c:pt>
                <c:pt idx="210">
                  <c:v>0.942148760331</c:v>
                </c:pt>
                <c:pt idx="211">
                  <c:v>0.942148760331</c:v>
                </c:pt>
                <c:pt idx="212">
                  <c:v>0.948347107438</c:v>
                </c:pt>
                <c:pt idx="213">
                  <c:v>0.948347107438</c:v>
                </c:pt>
                <c:pt idx="214">
                  <c:v>0.95041322314</c:v>
                </c:pt>
                <c:pt idx="215">
                  <c:v>0.95041322314</c:v>
                </c:pt>
                <c:pt idx="216">
                  <c:v>0.952479338843</c:v>
                </c:pt>
                <c:pt idx="217">
                  <c:v>0.952479338843</c:v>
                </c:pt>
                <c:pt idx="218">
                  <c:v>0.954545454545</c:v>
                </c:pt>
                <c:pt idx="219">
                  <c:v>0.954545454545</c:v>
                </c:pt>
                <c:pt idx="220">
                  <c:v>0.956611570248</c:v>
                </c:pt>
                <c:pt idx="221">
                  <c:v>0.956611570248</c:v>
                </c:pt>
                <c:pt idx="222">
                  <c:v>0.960743801653</c:v>
                </c:pt>
                <c:pt idx="223">
                  <c:v>0.960743801653</c:v>
                </c:pt>
                <c:pt idx="224">
                  <c:v>0.962809917355</c:v>
                </c:pt>
                <c:pt idx="225">
                  <c:v>0.962809917355</c:v>
                </c:pt>
                <c:pt idx="226">
                  <c:v>0.96694214876</c:v>
                </c:pt>
                <c:pt idx="227">
                  <c:v>0.96694214876</c:v>
                </c:pt>
                <c:pt idx="228">
                  <c:v>0.969008264463</c:v>
                </c:pt>
                <c:pt idx="229">
                  <c:v>0.969008264463</c:v>
                </c:pt>
                <c:pt idx="230">
                  <c:v>0.971074380165</c:v>
                </c:pt>
                <c:pt idx="231">
                  <c:v>0.971074380165</c:v>
                </c:pt>
                <c:pt idx="232">
                  <c:v>0.973140495868</c:v>
                </c:pt>
                <c:pt idx="233">
                  <c:v>0.973140495868</c:v>
                </c:pt>
                <c:pt idx="234">
                  <c:v>0.977272727273</c:v>
                </c:pt>
                <c:pt idx="235">
                  <c:v>0.977272727273</c:v>
                </c:pt>
                <c:pt idx="236">
                  <c:v>0.985537190083</c:v>
                </c:pt>
                <c:pt idx="237">
                  <c:v>0.985537190083</c:v>
                </c:pt>
                <c:pt idx="238">
                  <c:v>0.987603305785</c:v>
                </c:pt>
                <c:pt idx="239">
                  <c:v>0.987603305785</c:v>
                </c:pt>
                <c:pt idx="240">
                  <c:v>0.989669421488</c:v>
                </c:pt>
                <c:pt idx="241">
                  <c:v>0.989669421488</c:v>
                </c:pt>
                <c:pt idx="242">
                  <c:v>0.99173553719</c:v>
                </c:pt>
                <c:pt idx="243">
                  <c:v>0.99173553719</c:v>
                </c:pt>
                <c:pt idx="244">
                  <c:v>0.993801652893</c:v>
                </c:pt>
                <c:pt idx="245">
                  <c:v>0.993801652893</c:v>
                </c:pt>
                <c:pt idx="246">
                  <c:v>0.995867768595</c:v>
                </c:pt>
                <c:pt idx="247">
                  <c:v>0.995867768595</c:v>
                </c:pt>
                <c:pt idx="248">
                  <c:v>0.997933884298</c:v>
                </c:pt>
                <c:pt idx="249">
                  <c:v>0.997933884298</c:v>
                </c:pt>
                <c:pt idx="250">
                  <c:v>1</c:v>
                </c:pt>
                <c:pt idx="251">
                  <c:v>1</c:v>
                </c:pt>
              </c:numCache>
            </c:numRef>
          </c:yVal>
        </c:ser>
        <c:ser>
          <c:idx val="2"/>
          <c:order val="2"/>
          <c:tx>
            <c:v>Chance</c:v>
          </c:tx>
          <c:spPr>
            <a:ln xmlns:a="http://schemas.openxmlformats.org/drawingml/2006/main" w="12383">
              <a:solidFill>
                <a:srgbClr val="9CB3A9"/>
              </a:solidFill>
            </a:ln>
          </c:spPr>
          <c:marker>
            <c:symbol val="none"/>
          </c:marker>
          <c:xVal>
            <c:numRef>
              <c:f>'Chart Data'!$E$2:$E$3</c:f>
              <c:numCache>
                <c:formatCode>General</c:formatCode>
                <c:ptCount val="2"/>
                <c:pt idx="0">
                  <c:v>0</c:v>
                </c:pt>
                <c:pt idx="1">
                  <c:v>1</c:v>
                </c:pt>
              </c:numCache>
            </c:numRef>
          </c:xVal>
          <c:yVal>
            <c:numRef>
              <c:f>'Chart Data'!$F$2:$F$3</c:f>
              <c:numCache>
                <c:formatCode>0.0</c:formatCode>
                <c:ptCount val="2"/>
                <c:pt idx="0">
                  <c:v>0</c:v>
                </c:pt>
                <c:pt idx="1">
                  <c:v>1</c:v>
                </c:pt>
              </c:numCache>
            </c:numRef>
          </c:yVal>
        </c:ser>
        <c:dLbls>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5715">
              <a:solidFill>
                <a:srgbClr val="DDE5DF"/>
              </a:solidFill>
            </a:ln>
          </c:spPr>
        </c:majorGridlines>
        <c:title>
          <c:tx>
            <c:rich>
              <a:bodyPr xmlns:a="http://schemas.openxmlformats.org/drawingml/2006/main"/>
              <a:lstStyle xmlns:a="http://schemas.openxmlformats.org/drawingml/2006/main"/>
              <a:p xmlns:a="http://schemas.openxmlformats.org/drawingml/2006/main">
                <a:r>
                  <a:rPr sz="1425">
                    <a:solidFill>
                      <a:srgbClr val="5B7068"/>
                    </a:solidFill>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sz="1425">
                  <a:solidFill>
                    <a:srgbClr val="5B7068"/>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B7068"/>
                </a:solidFill>
                <a:latin typeface="Arial"/>
                <a:ea typeface="Arial"/>
                <a:cs typeface="Arial"/>
              </a:defRPr>
            </a:pPr>
          </a:p>
        </c:txPr>
        <c:crossAx val="48650112"/>
        <c:majorUnit val="0.2"/>
      </c:valAx>
      <c:valAx>
        <c:axId val="48650112"/>
        <c:scaling>
          <c:orientation val="minMax"/>
          <c:max val="1"/>
          <c:min val="0"/>
        </c:scaling>
        <c:delete val="0"/>
        <c:axPos val="b"/>
        <c:majorGridlines>
          <c:spPr>
            <a:ln xmlns:a="http://schemas.openxmlformats.org/drawingml/2006/main" w="5715">
              <a:solidFill>
                <a:srgbClr val="DDE5DF"/>
              </a:solidFill>
            </a:ln>
          </c:spPr>
        </c:majorGridlines>
        <c:title>
          <c:tx>
            <c:rich>
              <a:bodyPr xmlns:a="http://schemas.openxmlformats.org/drawingml/2006/main"/>
              <a:lstStyle xmlns:a="http://schemas.openxmlformats.org/drawingml/2006/main"/>
              <a:p xmlns:a="http://schemas.openxmlformats.org/drawingml/2006/main">
                <a:r>
                  <a:rPr sz="1425">
                    <a:solidFill>
                      <a:srgbClr val="5B7068"/>
                    </a:solidFill>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sz="1425">
                  <a:solidFill>
                    <a:srgbClr val="5B7068"/>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B7068"/>
                </a:solidFill>
                <a:latin typeface="Arial"/>
                <a:ea typeface="Arial"/>
                <a:cs typeface="Arial"/>
              </a:defRPr>
            </a:pPr>
          </a:p>
        </c:txPr>
        <c:crossAx val="48672768"/>
        <c:majorUnit val="0.2"/>
      </c:valAx>
      <c:spPr>
        <a:solidFill xmlns:a="http://schemas.openxmlformats.org/drawingml/2006/main">
          <a:srgbClr val="F7F8F4"/>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5382F"/>
              </a:solidFill>
              <a:latin typeface="Arial"/>
              <a:ea typeface="Arial"/>
              <a:cs typeface="Arial"/>
            </a:defRPr>
          </a:pPr>
        </a:p>
      </c:txPr>
    </c:legend>
    <c:plotVisOnly val="1"/>
  </c:chart>
  <c:spPr>
    <a:solidFill xmlns:a="http://schemas.openxmlformats.org/drawingml/2006/main">
      <a:srgbClr val="F7F8F4"/>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c:lang val="en-US"/>
  <c:roundedCorners val="1"/>
  <c:style val="2"/>
  <c:chart>
    <c:autoTitleDeleted val="1"/>
    <c:plotArea>
      <c:barChart>
        <c:barDir val="bar"/>
        <c:grouping val="clustered"/>
        <c:varyColors val="0"/>
        <c:ser>
          <c:idx val="0"/>
          <c:order val="0"/>
          <c:tx>
            <c:v>Audio only</c:v>
          </c:tx>
          <c:spPr>
            <a:solidFill xmlns:a="http://schemas.openxmlformats.org/drawingml/2006/main">
              <a:srgbClr val="9CB3A9"/>
            </a:solidFill>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650" b="1">
                    <a:solidFill>
                      <a:srgbClr val="15382F"/>
                    </a:solidFill>
                    <a:latin typeface="Arial"/>
                    <a:ea typeface="Arial"/>
                    <a:cs typeface="Arial"/>
                  </a:defRPr>
                </a:pPr>
              </a:p>
            </c:txPr>
            <c:dLblPos val="outEnd"/>
            <c:showLegendKey val="0"/>
            <c:showVal val="1"/>
            <c:showCatName val="0"/>
            <c:showSerName val="0"/>
            <c:showPercent val="0"/>
            <c:showBubbleSize val="0"/>
            <c:showLeaderLines val="0"/>
          </c:dLbls>
          <c:cat>
            <c:strRef>
              <c:f>'Chart Data'!$A$2:$A$4</c:f>
              <c:strCache>
                <c:ptCount val="3"/>
                <c:pt idx="0">
                  <c:v>Logistic regression</c:v>
                </c:pt>
                <c:pt idx="1">
                  <c:v>Decision tree</c:v>
                </c:pt>
                <c:pt idx="2">
                  <c:v>Random forest</c:v>
                </c:pt>
              </c:strCache>
            </c:strRef>
          </c:cat>
          <c:val>
            <c:numRef>
              <c:f>'Chart Data'!$B$2:$B$4</c:f>
              <c:numCache>
                <c:formatCode>0.00%</c:formatCode>
                <c:ptCount val="3"/>
                <c:pt idx="0">
                  <c:v>0.6086</c:v>
                </c:pt>
                <c:pt idx="1">
                  <c:v>0.6291</c:v>
                </c:pt>
                <c:pt idx="2">
                  <c:v>0.6455</c:v>
                </c:pt>
              </c:numCache>
            </c:numRef>
          </c:val>
        </c:ser>
        <c:ser>
          <c:idx val="1"/>
          <c:order val="1"/>
          <c:tx>
            <c:v>Audio plus Artist Score</c:v>
          </c:tx>
          <c:spPr>
            <a:solidFill xmlns:a="http://schemas.openxmlformats.org/drawingml/2006/main">
              <a:srgbClr val="087F70"/>
            </a:solidFill>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650" b="1">
                    <a:solidFill>
                      <a:srgbClr val="15382F"/>
                    </a:solidFill>
                    <a:latin typeface="Arial"/>
                    <a:ea typeface="Arial"/>
                    <a:cs typeface="Arial"/>
                  </a:defRPr>
                </a:pPr>
              </a:p>
            </c:txPr>
            <c:dLblPos val="outEnd"/>
            <c:showLegendKey val="0"/>
            <c:showVal val="1"/>
            <c:showCatName val="0"/>
            <c:showSerName val="0"/>
            <c:showPercent val="0"/>
            <c:showBubbleSize val="0"/>
            <c:showLeaderLines val="0"/>
          </c:dLbls>
          <c:cat>
            <c:strRef>
              <c:f>'Chart Data'!$C$2:$C$4</c:f>
              <c:strCache>
                <c:ptCount val="3"/>
                <c:pt idx="0">
                  <c:v>Logistic regression</c:v>
                </c:pt>
                <c:pt idx="1">
                  <c:v>Decision tree</c:v>
                </c:pt>
                <c:pt idx="2">
                  <c:v>Random forest</c:v>
                </c:pt>
              </c:strCache>
            </c:strRef>
          </c:cat>
          <c:val>
            <c:numRef>
              <c:f>'Chart Data'!$D$2:$D$4</c:f>
              <c:numCache>
                <c:formatCode>0.00%</c:formatCode>
                <c:ptCount val="3"/>
                <c:pt idx="0">
                  <c:v>0.8145</c:v>
                </c:pt>
                <c:pt idx="1">
                  <c:v>0.792</c:v>
                </c:pt>
                <c:pt idx="2">
                  <c:v>0.8248</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l"/>
        <c:majorGridlines>
          <c:spPr>
            <a:ln xmlns:a="http://schemas.openxmlformats.org/drawingml/2006/main" w="9525">
              <a:solidFill>
                <a:srgbClr val="DDE5DF"/>
              </a:solidFill>
            </a:ln>
          </c:spPr>
        </c:majorGridlines>
        <c:numFmt formatCode="General" sourceLinked="1"/>
        <c:majorTickMark val="none"/>
        <c:minorTickMark val="none"/>
        <c:tickLblPos val="nextTo"/>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B7068"/>
                </a:solidFill>
                <a:latin typeface="Arial"/>
                <a:ea typeface="Arial"/>
                <a:cs typeface="Arial"/>
              </a:defRPr>
            </a:pPr>
          </a:p>
        </c:txPr>
        <c:crossAx val="48672768"/>
        <c:crosses val="autoZero"/>
        <c:lblOffset val="100"/>
      </c:catAx>
      <c:valAx>
        <c:axId val="48672768"/>
        <c:scaling>
          <c:orientation val="minMax"/>
          <c:max val="1"/>
          <c:min val="0"/>
        </c:scaling>
        <c:delete val="0"/>
        <c:axPos val="b"/>
        <c:numFmt formatCode="0.00%" sourceLinked="1"/>
        <c:majorTickMark val="none"/>
        <c:minorTickMark val="none"/>
        <c:tickLblPos val="nextTo"/>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950">
                <a:solidFill>
                  <a:srgbClr val="15382F"/>
                </a:solidFill>
                <a:latin typeface="Arial"/>
                <a:ea typeface="Arial"/>
                <a:cs typeface="Arial"/>
              </a:defRPr>
            </a:pPr>
          </a:p>
        </c:txPr>
        <c:crossAx val="48650112"/>
        <c:crosses val="autoZero"/>
        <c:crossBetween val="between"/>
        <c:majorUnit val="0.2"/>
      </c:valAx>
      <c:spPr>
        <a:solidFill xmlns:a="http://schemas.openxmlformats.org/drawingml/2006/main">
          <a:srgbClr val="F7F8F4"/>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5382F"/>
              </a:solidFill>
              <a:latin typeface="Arial"/>
              <a:ea typeface="Arial"/>
              <a:cs typeface="Arial"/>
            </a:defRPr>
          </a:pPr>
        </a:p>
      </c:txPr>
    </c:legend>
    <c:plotVisOnly val="1"/>
  </c:chart>
  <c:spPr>
    <a:solidFill xmlns:a="http://schemas.openxmlformats.org/drawingml/2006/main">
      <a:srgbClr val="F7F8F4"/>
    </a:solidFill>
    <a:ln xmlns:a="http://schemas.openxmlformats.org/drawingml/2006/main" w="0">
      <a:noFill/>
    </a:ln>
  </c:spPr>
  <c:externalData xmlns:ns0="http://schemas.openxmlformats.org/officeDocument/2006/relationships" ns0:id="rId1">
    <c:autoUpdate val="0"/>
  </c:externalData>
</c:chartSpace>
</file>

<file path=ppt/slides/slide1.xml><?xml version="1.0" encoding="utf-8"?>
<p:sld xmlns:p="http://schemas.openxmlformats.org/presentationml/2006/main">
  <p:cSld>
    <p:bg>
      <p:bgPr>
        <a:solidFill xmlns:a="http://schemas.openxmlformats.org/drawingml/2006/main">
          <a:srgbClr val="15382F"/>
        </a:solidFill>
      </p:bgPr>
    </p:bg>
    <p:spTree>
      <p:nvGrpSpPr>
        <p:cNvPr id="1" name=""/>
        <p:cNvGrpSpPr/>
        <p:nvPr/>
      </p:nvGrpSpPr>
      <p:grpSpPr>
        <a:xfrm xmlns:a="http://schemas.openxmlformats.org/drawingml/2006/main"/>
      </p:grpSpPr>
      <p:sp>
        <p:nvSpPr>
          <p:cNvPr id="6" name="01">
            <a:extLst xmlns:a="http://schemas.openxmlformats.org/drawingml/2006/main">
              <a:ext uri="{FF2B5EF4-FFF2-40B4-BE49-F238E27FC236}">
                <a16:creationId xmlns:a16="http://schemas.microsoft.com/office/drawing/2014/main" id="{6C288B93-9FD8-430D-B113-E4FCA7A7CC1B}"/>
              </a:ext>
            </a:extLst>
          </p:cNvPr>
          <p:cNvSpPr>
            <a:spLocks xmlns:a="http://schemas.openxmlformats.org/drawingml/2006/main" noGrp="1"/>
          </p:cNvSpPr>
          <p:nvPr/>
        </p:nvSpPr>
        <p:spPr>
          <a:xfrm xmlns:a="http://schemas.openxmlformats.org/drawingml/2006/main">
            <a:off x="11239500" y="62674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b="0">
                <a:solidFill>
                  <a:srgbClr val="9CB3A9"/>
                </a:solidFill>
                <a:latin typeface="Arial"/>
                <a:ea typeface="Arial"/>
                <a:cs typeface="Arial"/>
              </a:defRPr>
            </a:pPr>
            <a:r>
              <a:rPr sz="1350" b="0">
                <a:solidFill>
                  <a:srgbClr val="9CB3A9"/>
                </a:solidFill>
                <a:latin typeface="Arial"/>
                <a:ea typeface="Arial"/>
                <a:cs typeface="Arial"/>
              </a:rPr>
              <a:t>01</a:t>
            </a:r>
            <a:endParaRPr sz="1350" b="0">
              <a:solidFill>
                <a:srgbClr val="9CB3A9"/>
              </a:solidFill>
              <a:latin typeface="Arial"/>
              <a:ea typeface="Arial"/>
              <a:cs typeface="Arial"/>
            </a:endParaRPr>
          </a:p>
        </p:txBody>
      </p:sp>
      <p:sp>
        <p:nvSpPr>
          <p:cNvPr id="2" name="HitPredict">
            <a:extLst xmlns:a="http://schemas.openxmlformats.org/drawingml/2006/main">
              <a:ext uri="{FF2B5EF4-FFF2-40B4-BE49-F238E27FC236}">
                <a16:creationId xmlns:a16="http://schemas.microsoft.com/office/drawing/2014/main" id="{9721EF39-A484-4A89-A7D2-37C0A4326C0C}"/>
              </a:ext>
            </a:extLst>
          </p:cNvPr>
          <p:cNvSpPr>
            <a:spLocks xmlns:a="http://schemas.openxmlformats.org/drawingml/2006/main" noGrp="1"/>
          </p:cNvSpPr>
          <p:nvPr/>
        </p:nvSpPr>
        <p:spPr>
          <a:xfrm xmlns:a="http://schemas.openxmlformats.org/drawingml/2006/main">
            <a:off x="609600" y="1562100"/>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7350" b="1">
                <a:solidFill>
                  <a:srgbClr val="FFFFFF"/>
                </a:solidFill>
                <a:latin typeface="Arial"/>
                <a:ea typeface="Arial"/>
                <a:cs typeface="Arial"/>
              </a:defRPr>
            </a:pPr>
            <a:r>
              <a:rPr sz="7350" b="1">
                <a:solidFill>
                  <a:srgbClr val="FFFFFF"/>
                </a:solidFill>
                <a:latin typeface="Arial"/>
                <a:ea typeface="Arial"/>
                <a:cs typeface="Arial"/>
              </a:rPr>
              <a:t>HitPredict</a:t>
            </a:r>
          </a:p>
        </p:txBody>
      </p:sp>
      <p:sp>
        <p:nvSpPr>
          <p:cNvPr id="3" name="Song hit classification">
            <a:extLst xmlns:a="http://schemas.openxmlformats.org/drawingml/2006/main">
              <a:ext uri="{FF2B5EF4-FFF2-40B4-BE49-F238E27FC236}">
                <a16:creationId xmlns:a16="http://schemas.microsoft.com/office/drawing/2014/main" id="{E948B20B-F51F-46DF-872F-681A8566689C}"/>
              </a:ext>
            </a:extLst>
          </p:cNvPr>
          <p:cNvSpPr>
            <a:spLocks xmlns:a="http://schemas.openxmlformats.org/drawingml/2006/main" noGrp="1"/>
          </p:cNvSpPr>
          <p:nvPr/>
        </p:nvSpPr>
        <p:spPr>
          <a:xfrm xmlns:a="http://schemas.openxmlformats.org/drawingml/2006/main">
            <a:off x="647700" y="2933700"/>
            <a:ext cx="1009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0">
                <a:solidFill>
                  <a:srgbClr val="FFFFFF"/>
                </a:solidFill>
                <a:latin typeface="Arial"/>
                <a:ea typeface="Arial"/>
                <a:cs typeface="Arial"/>
              </a:defRPr>
            </a:pPr>
            <a:r>
              <a:rPr sz="3600" b="0">
                <a:solidFill>
                  <a:srgbClr val="FFFFFF"/>
                </a:solidFill>
                <a:latin typeface="Arial"/>
                <a:ea typeface="Arial"/>
                <a:cs typeface="Arial"/>
              </a:rPr>
              <a:t>Song hit classification</a:t>
            </a:r>
          </a:p>
        </p:txBody>
      </p:sp>
      <p:sp>
        <p:nvSpPr>
          <p:cNvPr id="4" name="Audio descriptors and earlier artis">
            <a:extLst xmlns:a="http://schemas.openxmlformats.org/drawingml/2006/main">
              <a:ext uri="{FF2B5EF4-FFF2-40B4-BE49-F238E27FC236}">
                <a16:creationId xmlns:a16="http://schemas.microsoft.com/office/drawing/2014/main" id="{5A36DC1C-0565-4ACB-93E8-4F26E607498B}"/>
              </a:ext>
            </a:extLst>
          </p:cNvPr>
          <p:cNvSpPr>
            <a:spLocks xmlns:a="http://schemas.openxmlformats.org/drawingml/2006/main" noGrp="1"/>
          </p:cNvSpPr>
          <p:nvPr/>
        </p:nvSpPr>
        <p:spPr>
          <a:xfrm xmlns:a="http://schemas.openxmlformats.org/drawingml/2006/main">
            <a:off x="647700" y="3914775"/>
            <a:ext cx="990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9CB3A9"/>
                </a:solidFill>
                <a:latin typeface="Arial"/>
                <a:ea typeface="Arial"/>
                <a:cs typeface="Arial"/>
              </a:defRPr>
            </a:pPr>
            <a:r>
              <a:rPr sz="2325" b="0">
                <a:solidFill>
                  <a:srgbClr val="9CB3A9"/>
                </a:solidFill>
                <a:latin typeface="Arial"/>
                <a:ea typeface="Arial"/>
                <a:cs typeface="Arial"/>
              </a:rPr>
              <a:t>Audio descriptors and earlier artist chart history</a:t>
            </a:r>
          </a:p>
        </p:txBody>
      </p:sp>
      <p:sp>
        <p:nvSpPr>
          <p:cNvPr id="5" name="Machine Learning Mini Project">
            <a:extLst xmlns:a="http://schemas.openxmlformats.org/drawingml/2006/main">
              <a:ext uri="{FF2B5EF4-FFF2-40B4-BE49-F238E27FC236}">
                <a16:creationId xmlns:a16="http://schemas.microsoft.com/office/drawing/2014/main" id="{18802A69-4A14-4F5A-B171-3CD59E29968C}"/>
              </a:ext>
            </a:extLst>
          </p:cNvPr>
          <p:cNvSpPr>
            <a:spLocks xmlns:a="http://schemas.openxmlformats.org/drawingml/2006/main" noGrp="1"/>
          </p:cNvSpPr>
          <p:nvPr/>
        </p:nvSpPr>
        <p:spPr>
          <a:xfrm xmlns:a="http://schemas.openxmlformats.org/drawingml/2006/main">
            <a:off x="647700" y="5686425"/>
            <a:ext cx="1000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EFB74D"/>
                </a:solidFill>
                <a:latin typeface="Arial"/>
                <a:ea typeface="Arial"/>
                <a:cs typeface="Arial"/>
              </a:defRPr>
            </a:pPr>
            <a:r>
              <a:rPr sz="1800" b="0">
                <a:solidFill>
                  <a:srgbClr val="EFB74D"/>
                </a:solidFill>
                <a:latin typeface="Arial"/>
                <a:ea typeface="Arial"/>
                <a:cs typeface="Arial"/>
              </a:rPr>
              <a:t>Machine Learning Mini Project</a:t>
            </a:r>
          </a:p>
        </p:txBody>
      </p:sp>
    </p:spTree>
    <p:extLst>
      <p:ext uri="{BB962C8B-B14F-4D97-AF65-F5344CB8AC3E}">
        <p14:creationId xmlns:p14="http://schemas.microsoft.com/office/powerpoint/2010/main" val="51197719"/>
      </p:ext>
    </p:extLst>
  </p:cSld>
</p:sld>
</file>

<file path=ppt/slides/slide2.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11" name="Problem and dataset">
            <a:extLst xmlns:a="http://schemas.openxmlformats.org/drawingml/2006/main">
              <a:ext uri="{FF2B5EF4-FFF2-40B4-BE49-F238E27FC236}">
                <a16:creationId xmlns:a16="http://schemas.microsoft.com/office/drawing/2014/main" id="{4F576135-3045-40F4-8F75-3C61B1AE71D4}"/>
              </a:ext>
            </a:extLst>
          </p:cNvPr>
          <p:cNvSpPr>
            <a:spLocks xmlns:a="http://schemas.openxmlformats.org/drawingml/2006/main" noGrp="1"/>
          </p:cNvSpPr>
          <p:nvPr/>
        </p:nvSpPr>
        <p:spPr>
          <a:xfrm xmlns:a="http://schemas.openxmlformats.org/drawingml/2006/main">
            <a:off x="609600" y="45720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15382F"/>
                </a:solidFill>
                <a:latin typeface="Arial"/>
                <a:ea typeface="Arial"/>
                <a:cs typeface="Arial"/>
              </a:defRPr>
            </a:pPr>
            <a:r>
              <a:rPr sz="3300" b="1">
                <a:solidFill>
                  <a:srgbClr val="15382F"/>
                </a:solidFill>
                <a:latin typeface="Arial"/>
                <a:ea typeface="Arial"/>
                <a:cs typeface="Arial"/>
              </a:rPr>
              <a:t>Problem and dataset</a:t>
            </a:r>
          </a:p>
        </p:txBody>
      </p:sp>
      <p:sp>
        <p:nvSpPr>
          <p:cNvPr id="2" name="02">
            <a:extLst xmlns:a="http://schemas.openxmlformats.org/drawingml/2006/main">
              <a:ext uri="{FF2B5EF4-FFF2-40B4-BE49-F238E27FC236}">
                <a16:creationId xmlns:a16="http://schemas.microsoft.com/office/drawing/2014/main" id="{E44D88D0-7DE7-4C76-9409-D61CC10B6EAC}"/>
              </a:ext>
            </a:extLst>
          </p:cNvPr>
          <p:cNvSpPr>
            <a:spLocks xmlns:a="http://schemas.openxmlformats.org/drawingml/2006/main" noGrp="1"/>
          </p:cNvSpPr>
          <p:nvPr/>
        </p:nvSpPr>
        <p:spPr>
          <a:xfrm xmlns:a="http://schemas.openxmlformats.org/drawingml/2006/main">
            <a:off x="11239500" y="62674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b="0">
                <a:solidFill>
                  <a:srgbClr val="5B7068"/>
                </a:solidFill>
                <a:latin typeface="Arial"/>
                <a:ea typeface="Arial"/>
                <a:cs typeface="Arial"/>
              </a:defRPr>
            </a:pPr>
            <a:r>
              <a:rPr sz="1350" b="0">
                <a:solidFill>
                  <a:srgbClr val="5B7068"/>
                </a:solidFill>
                <a:latin typeface="Arial"/>
                <a:ea typeface="Arial"/>
                <a:cs typeface="Arial"/>
              </a:rPr>
              <a:t>02</a:t>
            </a:r>
            <a:endParaRPr sz="1350" b="0">
              <a:solidFill>
                <a:srgbClr val="5B7068"/>
              </a:solidFill>
              <a:latin typeface="Arial"/>
              <a:ea typeface="Arial"/>
              <a:cs typeface="Arial"/>
            </a:endParaRPr>
          </a:p>
        </p:txBody>
      </p:sp>
      <p:sp>
        <p:nvSpPr>
          <p:cNvPr id="3" name="Classify a song as a chart hit or a">
            <a:extLst xmlns:a="http://schemas.openxmlformats.org/drawingml/2006/main">
              <a:ext uri="{FF2B5EF4-FFF2-40B4-BE49-F238E27FC236}">
                <a16:creationId xmlns:a16="http://schemas.microsoft.com/office/drawing/2014/main" id="{DB0F7867-F80E-4C5E-8D97-20D5FEF944B1}"/>
              </a:ext>
            </a:extLst>
          </p:cNvPr>
          <p:cNvSpPr>
            <a:spLocks xmlns:a="http://schemas.openxmlformats.org/drawingml/2006/main" noGrp="1"/>
          </p:cNvSpPr>
          <p:nvPr/>
        </p:nvSpPr>
        <p:spPr>
          <a:xfrm xmlns:a="http://schemas.openxmlformats.org/drawingml/2006/main">
            <a:off x="609600" y="140970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15382F"/>
                </a:solidFill>
                <a:latin typeface="Arial"/>
                <a:ea typeface="Arial"/>
                <a:cs typeface="Arial"/>
              </a:defRPr>
            </a:pPr>
            <a:r>
              <a:rPr sz="2325" b="0">
                <a:solidFill>
                  <a:srgbClr val="15382F"/>
                </a:solidFill>
                <a:latin typeface="Arial"/>
                <a:ea typeface="Arial"/>
                <a:cs typeface="Arial"/>
              </a:rPr>
              <a:t>Classify a song as a chart hit or a non-hit candidate</a:t>
            </a:r>
          </a:p>
        </p:txBody>
      </p:sp>
      <p:sp>
        <p:nvSpPr>
          <p:cNvPr id="4" name="4,000">
            <a:extLst xmlns:a="http://schemas.openxmlformats.org/drawingml/2006/main">
              <a:ext uri="{FF2B5EF4-FFF2-40B4-BE49-F238E27FC236}">
                <a16:creationId xmlns:a16="http://schemas.microsoft.com/office/drawing/2014/main" id="{F802B4E1-01D2-464E-A48C-90967AA615BF}"/>
              </a:ext>
            </a:extLst>
          </p:cNvPr>
          <p:cNvSpPr>
            <a:spLocks xmlns:a="http://schemas.openxmlformats.org/drawingml/2006/main" noGrp="1"/>
          </p:cNvSpPr>
          <p:nvPr/>
        </p:nvSpPr>
        <p:spPr>
          <a:xfrm xmlns:a="http://schemas.openxmlformats.org/drawingml/2006/main">
            <a:off x="628650" y="2552700"/>
            <a:ext cx="542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6150" b="1">
                <a:solidFill>
                  <a:srgbClr val="087F70"/>
                </a:solidFill>
                <a:latin typeface="Arial"/>
                <a:ea typeface="Arial"/>
                <a:cs typeface="Arial"/>
              </a:defRPr>
            </a:pPr>
            <a:r>
              <a:rPr sz="6150" b="1">
                <a:solidFill>
                  <a:srgbClr val="087F70"/>
                </a:solidFill>
                <a:latin typeface="Arial"/>
                <a:ea typeface="Arial"/>
                <a:cs typeface="Arial"/>
              </a:rPr>
              <a:t>4,000</a:t>
            </a:r>
          </a:p>
        </p:txBody>
      </p:sp>
      <p:sp>
        <p:nvSpPr>
          <p:cNvPr id="5" name="songs in the balanced research samp">
            <a:extLst xmlns:a="http://schemas.openxmlformats.org/drawingml/2006/main">
              <a:ext uri="{FF2B5EF4-FFF2-40B4-BE49-F238E27FC236}">
                <a16:creationId xmlns:a16="http://schemas.microsoft.com/office/drawing/2014/main" id="{0D7547E8-8A2D-428A-903E-0B476A9E83E1}"/>
              </a:ext>
            </a:extLst>
          </p:cNvPr>
          <p:cNvSpPr>
            <a:spLocks xmlns:a="http://schemas.openxmlformats.org/drawingml/2006/main" noGrp="1"/>
          </p:cNvSpPr>
          <p:nvPr/>
        </p:nvSpPr>
        <p:spPr>
          <a:xfrm xmlns:a="http://schemas.openxmlformats.org/drawingml/2006/main">
            <a:off x="647700" y="3543300"/>
            <a:ext cx="538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15382F"/>
                </a:solidFill>
                <a:latin typeface="Arial"/>
                <a:ea typeface="Arial"/>
                <a:cs typeface="Arial"/>
              </a:defRPr>
            </a:pPr>
            <a:r>
              <a:rPr sz="2025" b="0">
                <a:solidFill>
                  <a:srgbClr val="15382F"/>
                </a:solidFill>
                <a:latin typeface="Arial"/>
                <a:ea typeface="Arial"/>
                <a:cs typeface="Arial"/>
              </a:rPr>
              <a:t>songs in the balanced research sample</a:t>
            </a:r>
          </a:p>
        </p:txBody>
      </p:sp>
      <p:sp>
        <p:nvSpPr>
          <p:cNvPr id="6" name="2,660 normalized artist keys">
            <a:extLst xmlns:a="http://schemas.openxmlformats.org/drawingml/2006/main">
              <a:ext uri="{FF2B5EF4-FFF2-40B4-BE49-F238E27FC236}">
                <a16:creationId xmlns:a16="http://schemas.microsoft.com/office/drawing/2014/main" id="{3F621079-60BC-4B20-BF87-9C22D986B085}"/>
              </a:ext>
            </a:extLst>
          </p:cNvPr>
          <p:cNvSpPr>
            <a:spLocks xmlns:a="http://schemas.openxmlformats.org/drawingml/2006/main" noGrp="1"/>
          </p:cNvSpPr>
          <p:nvPr/>
        </p:nvSpPr>
        <p:spPr>
          <a:xfrm xmlns:a="http://schemas.openxmlformats.org/drawingml/2006/main">
            <a:off x="647700" y="4476750"/>
            <a:ext cx="5334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5B7068"/>
                </a:solidFill>
                <a:latin typeface="Arial"/>
                <a:ea typeface="Arial"/>
                <a:cs typeface="Arial"/>
              </a:defRPr>
            </a:pPr>
            <a:r>
              <a:rPr sz="2025" b="0">
                <a:solidFill>
                  <a:srgbClr val="5B7068"/>
                </a:solidFill>
                <a:latin typeface="Arial"/>
                <a:ea typeface="Arial"/>
                <a:cs typeface="Arial"/>
              </a:rPr>
              <a:t>2,660 normalized artist keys</a:t>
            </a:r>
          </a:p>
        </p:txBody>
      </p:sp>
      <p:sp>
        <p:nvSpPr>
          <p:cNvPr id="7" name="Sources: Million Song Dataset audio">
            <a:extLst xmlns:a="http://schemas.openxmlformats.org/drawingml/2006/main">
              <a:ext uri="{FF2B5EF4-FFF2-40B4-BE49-F238E27FC236}">
                <a16:creationId xmlns:a16="http://schemas.microsoft.com/office/drawing/2014/main" id="{F4B3F13E-4230-4595-AC7C-D90457C2833F}"/>
              </a:ext>
            </a:extLst>
          </p:cNvPr>
          <p:cNvSpPr>
            <a:spLocks xmlns:a="http://schemas.openxmlformats.org/drawingml/2006/main" noGrp="1"/>
          </p:cNvSpPr>
          <p:nvPr/>
        </p:nvSpPr>
        <p:spPr>
          <a:xfrm xmlns:a="http://schemas.openxmlformats.org/drawingml/2006/main">
            <a:off x="647700" y="5219700"/>
            <a:ext cx="5429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0">
                <a:solidFill>
                  <a:srgbClr val="5B7068"/>
                </a:solidFill>
                <a:latin typeface="Arial"/>
                <a:ea typeface="Arial"/>
                <a:cs typeface="Arial"/>
              </a:defRPr>
            </a:pPr>
            <a:r>
              <a:rPr sz="1725" b="0">
                <a:solidFill>
                  <a:srgbClr val="5B7068"/>
                </a:solidFill>
                <a:latin typeface="Arial"/>
                <a:ea typeface="Arial"/>
                <a:cs typeface="Arial"/>
              </a:rPr>
              <a:t>Sources: Million Song Dataset audio descriptors</a:t>
            </a:r>
          </a:p>
          <a:p xmlns:a="http://schemas.openxmlformats.org/drawingml/2006/main">
            <a:pPr>
              <a:buNone/>
              <a:defRPr sz="1725" b="0">
                <a:solidFill>
                  <a:srgbClr val="5B7068"/>
                </a:solidFill>
                <a:latin typeface="Arial"/>
                <a:ea typeface="Arial"/>
                <a:cs typeface="Arial"/>
              </a:defRPr>
            </a:pPr>
            <a:r>
              <a:rPr sz="1725" b="0">
                <a:solidFill>
                  <a:srgbClr val="5B7068"/>
                </a:solidFill>
                <a:latin typeface="Arial"/>
                <a:ea typeface="Arial"/>
                <a:cs typeface="Arial"/>
              </a:rPr>
              <a:t>and historical Billboard Hot 100 records</a:t>
            </a:r>
          </a:p>
        </p:txBody>
      </p:sp>
      <p:graphicFrame>
        <p:nvGraphicFramePr>
          <p:cNvPr id="20" name="Chart"/>
          <p:cNvGraphicFramePr/>
          <p:nvPr/>
        </p:nvGraphicFramePr>
        <p:xfrm>
          <a:off xmlns:a="http://schemas.openxmlformats.org/drawingml/2006/main" x="6896100" y="2181225"/>
          <a:ext xmlns:a="http://schemas.openxmlformats.org/drawingml/2006/main" cx="4095750" cy="3238500"/>
        </p:xfrm>
        <a:graphic xmlns:a="http://schemas.openxmlformats.org/drawingml/2006/main">
          <a:graphicData uri="http://schemas.openxmlformats.org/drawingml/2006/chart">
            <c:chart xmlns:r="http://schemas.openxmlformats.org/officeDocument/2006/relationships" xmlns:c="http://schemas.openxmlformats.org/drawingml/2006/chart" r:id="R45d70b02f9924a91"/>
          </a:graphicData>
        </a:graphic>
      </p:graphicFrame>
      <p:sp>
        <p:nvSpPr>
          <p:cNvPr id="9" name="2,000 hits">
            <a:extLst xmlns:a="http://schemas.openxmlformats.org/drawingml/2006/main">
              <a:ext uri="{FF2B5EF4-FFF2-40B4-BE49-F238E27FC236}">
                <a16:creationId xmlns:a16="http://schemas.microsoft.com/office/drawing/2014/main" id="{240C5231-5C62-4F1A-801A-E4318EEC9C46}"/>
              </a:ext>
            </a:extLst>
          </p:cNvPr>
          <p:cNvSpPr>
            <a:spLocks xmlns:a="http://schemas.openxmlformats.org/drawingml/2006/main" noGrp="1"/>
          </p:cNvSpPr>
          <p:nvPr/>
        </p:nvSpPr>
        <p:spPr>
          <a:xfrm xmlns:a="http://schemas.openxmlformats.org/drawingml/2006/main">
            <a:off x="7267575" y="556260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1">
                <a:solidFill>
                  <a:srgbClr val="087F70"/>
                </a:solidFill>
                <a:latin typeface="Arial"/>
                <a:ea typeface="Arial"/>
                <a:cs typeface="Arial"/>
              </a:defRPr>
            </a:pPr>
            <a:r>
              <a:rPr sz="1875" b="1">
                <a:solidFill>
                  <a:srgbClr val="087F70"/>
                </a:solidFill>
                <a:latin typeface="Arial"/>
                <a:ea typeface="Arial"/>
                <a:cs typeface="Arial"/>
              </a:rPr>
              <a:t>2,000 hits</a:t>
            </a:r>
          </a:p>
        </p:txBody>
      </p:sp>
      <p:sp>
        <p:nvSpPr>
          <p:cNvPr id="10" name="2,000 non-hit candidates">
            <a:extLst xmlns:a="http://schemas.openxmlformats.org/drawingml/2006/main">
              <a:ext uri="{FF2B5EF4-FFF2-40B4-BE49-F238E27FC236}">
                <a16:creationId xmlns:a16="http://schemas.microsoft.com/office/drawing/2014/main" id="{102FFB0C-418A-4EDD-8B67-AABCE67D4EE8}"/>
              </a:ext>
            </a:extLst>
          </p:cNvPr>
          <p:cNvSpPr>
            <a:spLocks xmlns:a="http://schemas.openxmlformats.org/drawingml/2006/main" noGrp="1"/>
          </p:cNvSpPr>
          <p:nvPr/>
        </p:nvSpPr>
        <p:spPr>
          <a:xfrm xmlns:a="http://schemas.openxmlformats.org/drawingml/2006/main">
            <a:off x="7267575" y="596265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15382F"/>
                </a:solidFill>
                <a:latin typeface="Arial"/>
                <a:ea typeface="Arial"/>
                <a:cs typeface="Arial"/>
              </a:defRPr>
            </a:pPr>
            <a:r>
              <a:rPr sz="1875" b="0">
                <a:solidFill>
                  <a:srgbClr val="15382F"/>
                </a:solidFill>
                <a:latin typeface="Arial"/>
                <a:ea typeface="Arial"/>
                <a:cs typeface="Arial"/>
              </a:rPr>
              <a:t>2,000 non-hit candidates</a:t>
            </a:r>
          </a:p>
        </p:txBody>
      </p:sp>
    </p:spTree>
    <p:extLst>
      <p:ext uri="{BB962C8B-B14F-4D97-AF65-F5344CB8AC3E}">
        <p14:creationId xmlns:p14="http://schemas.microsoft.com/office/powerpoint/2010/main" val="1788631770"/>
      </p:ext>
    </p:extLst>
  </p:cSld>
</p:sld>
</file>

<file path=ppt/slides/slide3.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6" name="Four model inputs">
            <a:extLst xmlns:a="http://schemas.openxmlformats.org/drawingml/2006/main">
              <a:ext uri="{FF2B5EF4-FFF2-40B4-BE49-F238E27FC236}">
                <a16:creationId xmlns:a16="http://schemas.microsoft.com/office/drawing/2014/main" id="{8FD24A33-247F-4B38-8797-D861EF24CCC3}"/>
              </a:ext>
            </a:extLst>
          </p:cNvPr>
          <p:cNvSpPr>
            <a:spLocks xmlns:a="http://schemas.openxmlformats.org/drawingml/2006/main" noGrp="1"/>
          </p:cNvSpPr>
          <p:nvPr/>
        </p:nvSpPr>
        <p:spPr>
          <a:xfrm xmlns:a="http://schemas.openxmlformats.org/drawingml/2006/main">
            <a:off x="609600" y="45720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15382F"/>
                </a:solidFill>
                <a:latin typeface="Arial"/>
                <a:ea typeface="Arial"/>
                <a:cs typeface="Arial"/>
              </a:defRPr>
            </a:pPr>
            <a:r>
              <a:rPr sz="3300" b="1">
                <a:solidFill>
                  <a:srgbClr val="15382F"/>
                </a:solidFill>
                <a:latin typeface="Arial"/>
                <a:ea typeface="Arial"/>
                <a:cs typeface="Arial"/>
              </a:rPr>
              <a:t>Four model inputs</a:t>
            </a:r>
          </a:p>
        </p:txBody>
      </p:sp>
      <p:sp>
        <p:nvSpPr>
          <p:cNvPr id="2" name="03">
            <a:extLst xmlns:a="http://schemas.openxmlformats.org/drawingml/2006/main">
              <a:ext uri="{FF2B5EF4-FFF2-40B4-BE49-F238E27FC236}">
                <a16:creationId xmlns:a16="http://schemas.microsoft.com/office/drawing/2014/main" id="{40DE41E0-F789-434E-9608-37064AE1A182}"/>
              </a:ext>
            </a:extLst>
          </p:cNvPr>
          <p:cNvSpPr>
            <a:spLocks xmlns:a="http://schemas.openxmlformats.org/drawingml/2006/main" noGrp="1"/>
          </p:cNvSpPr>
          <p:nvPr/>
        </p:nvSpPr>
        <p:spPr>
          <a:xfrm xmlns:a="http://schemas.openxmlformats.org/drawingml/2006/main">
            <a:off x="11239500" y="62674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b="0">
                <a:solidFill>
                  <a:srgbClr val="5B7068"/>
                </a:solidFill>
                <a:latin typeface="Arial"/>
                <a:ea typeface="Arial"/>
                <a:cs typeface="Arial"/>
              </a:defRPr>
            </a:pPr>
            <a:r>
              <a:rPr sz="1350" b="0">
                <a:solidFill>
                  <a:srgbClr val="5B7068"/>
                </a:solidFill>
                <a:latin typeface="Arial"/>
                <a:ea typeface="Arial"/>
                <a:cs typeface="Arial"/>
              </a:rPr>
              <a:t>03</a:t>
            </a:r>
            <a:endParaRPr sz="1350" b="0">
              <a:solidFill>
                <a:srgbClr val="5B7068"/>
              </a:solidFill>
              <a:latin typeface="Arial"/>
              <a:ea typeface="Arial"/>
              <a:cs typeface="Arial"/>
            </a:endParaRPr>
          </a:p>
        </p:txBody>
      </p:sp>
      <p:graphicFrame>
        <p:nvGraphicFramePr>
          <p:cNvPr id="10" name="Table 7"/>
          <p:cNvGraphicFramePr/>
          <p:nvPr/>
        </p:nvGraphicFramePr>
        <p:xfrm>
          <a:off xmlns:a="http://schemas.openxmlformats.org/drawingml/2006/main" x="609600" y="1562100"/>
          <a:ext xmlns:a="http://schemas.openxmlformats.org/drawingml/2006/main" cx="10972800" cy="3200400"/>
        </p:xfrm>
        <a:graphic xmlns:a="http://schemas.openxmlformats.org/drawingml/2006/main">
          <a:graphicData uri="http://schemas.openxmlformats.org/drawingml/2006/table">
            <a:tbl>
              <a:tblPr/>
              <a:tblGrid>
                <a:gridCol w="2419350"/>
                <a:gridCol w="1790700"/>
                <a:gridCol w="6762750"/>
              </a:tblGrid>
              <a:tr h="640080">
                <a:tc>
                  <a:txBody>
                    <a:bodyPr/>
                    <a:lstStyle/>
                    <a:p>
                      <a:pPr algn="l">
                        <a:buNone/>
                      </a:pPr>
                      <a:r>
                        <a:rPr sz="1950" b="1">
                          <a:solidFill>
                            <a:srgbClr val="FFFFFF"/>
                          </a:solidFill>
                          <a:latin typeface="Arial"/>
                          <a:ea typeface="Arial"/>
                          <a:cs typeface="Arial"/>
                        </a:rPr>
                        <a:t>Feature</a:t>
                      </a:r>
                    </a:p>
                  </a:txBody>
                  <a:tcPr marL="91440" marR="91440" marT="45720" marB="45720" anchor="ctr">
                    <a:solidFill>
                      <a:srgbClr val="15382F"/>
                    </a:solidFill>
                  </a:tcPr>
                </a:tc>
                <a:tc>
                  <a:txBody>
                    <a:bodyPr/>
                    <a:lstStyle/>
                    <a:p>
                      <a:pPr algn="ctr">
                        <a:buNone/>
                      </a:pPr>
                      <a:r>
                        <a:rPr sz="1950" b="1">
                          <a:solidFill>
                            <a:srgbClr val="FFFFFF"/>
                          </a:solidFill>
                          <a:latin typeface="Arial"/>
                          <a:ea typeface="Arial"/>
                          <a:cs typeface="Arial"/>
                        </a:rPr>
                        <a:t>Unit</a:t>
                      </a:r>
                    </a:p>
                  </a:txBody>
                  <a:tcPr marL="91440" marR="91440" marT="45720" marB="45720" anchor="ctr">
                    <a:solidFill>
                      <a:srgbClr val="15382F"/>
                    </a:solidFill>
                  </a:tcPr>
                </a:tc>
                <a:tc>
                  <a:txBody>
                    <a:bodyPr/>
                    <a:lstStyle/>
                    <a:p>
                      <a:pPr algn="ctr">
                        <a:buNone/>
                      </a:pPr>
                      <a:r>
                        <a:rPr sz="1950" b="1">
                          <a:solidFill>
                            <a:srgbClr val="FFFFFF"/>
                          </a:solidFill>
                          <a:latin typeface="Arial"/>
                          <a:ea typeface="Arial"/>
                          <a:cs typeface="Arial"/>
                        </a:rPr>
                        <a:t>Meaning</a:t>
                      </a:r>
                    </a:p>
                  </a:txBody>
                  <a:tcPr marL="91440" marR="91440" marT="45720" marB="45720" anchor="ctr">
                    <a:solidFill>
                      <a:srgbClr val="15382F"/>
                    </a:solidFill>
                  </a:tcPr>
                </a:tc>
              </a:tr>
              <a:tr h="640080">
                <a:tc>
                  <a:txBody>
                    <a:bodyPr/>
                    <a:lstStyle/>
                    <a:p>
                      <a:pPr algn="l">
                        <a:buNone/>
                      </a:pPr>
                      <a:r>
                        <a:rPr sz="1950" b="0">
                          <a:solidFill>
                            <a:srgbClr val="15382F"/>
                          </a:solidFill>
                          <a:latin typeface="Arial"/>
                          <a:ea typeface="Arial"/>
                          <a:cs typeface="Arial"/>
                        </a:rPr>
                        <a:t>Tempo</a:t>
                      </a:r>
                    </a:p>
                  </a:txBody>
                  <a:tcPr marL="91440" marR="91440" marT="45720" marB="45720" anchor="ctr">
                    <a:solidFill>
                      <a:srgbClr val="FFFFFF"/>
                    </a:solidFill>
                  </a:tcPr>
                </a:tc>
                <a:tc>
                  <a:txBody>
                    <a:bodyPr/>
                    <a:lstStyle/>
                    <a:p>
                      <a:pPr algn="ctr">
                        <a:buNone/>
                      </a:pPr>
                      <a:r>
                        <a:rPr sz="1950" b="0">
                          <a:solidFill>
                            <a:srgbClr val="15382F"/>
                          </a:solidFill>
                          <a:latin typeface="Arial"/>
                          <a:ea typeface="Arial"/>
                          <a:cs typeface="Arial"/>
                        </a:rPr>
                        <a:t>BPM</a:t>
                      </a:r>
                    </a:p>
                  </a:txBody>
                  <a:tcPr marL="91440" marR="91440" marT="45720" marB="45720" anchor="ctr">
                    <a:solidFill>
                      <a:srgbClr val="FFFFFF"/>
                    </a:solidFill>
                  </a:tcPr>
                </a:tc>
                <a:tc>
                  <a:txBody>
                    <a:bodyPr/>
                    <a:lstStyle/>
                    <a:p>
                      <a:pPr algn="ctr">
                        <a:buNone/>
                      </a:pPr>
                      <a:r>
                        <a:rPr sz="1950" b="0">
                          <a:solidFill>
                            <a:srgbClr val="15382F"/>
                          </a:solidFill>
                          <a:latin typeface="Arial"/>
                          <a:ea typeface="Arial"/>
                          <a:cs typeface="Arial"/>
                        </a:rPr>
                        <a:t>Estimated beat rate</a:t>
                      </a:r>
                    </a:p>
                  </a:txBody>
                  <a:tcPr marL="91440" marR="91440" marT="45720" marB="45720" anchor="ctr">
                    <a:solidFill>
                      <a:srgbClr val="FFFFFF"/>
                    </a:solidFill>
                  </a:tcPr>
                </a:tc>
              </a:tr>
              <a:tr h="640080">
                <a:tc>
                  <a:txBody>
                    <a:bodyPr/>
                    <a:lstStyle/>
                    <a:p>
                      <a:pPr algn="l">
                        <a:buNone/>
                      </a:pPr>
                      <a:r>
                        <a:rPr sz="1950" b="0">
                          <a:solidFill>
                            <a:srgbClr val="15382F"/>
                          </a:solidFill>
                          <a:latin typeface="Arial"/>
                          <a:ea typeface="Arial"/>
                          <a:cs typeface="Arial"/>
                        </a:rPr>
                        <a:t>Loudness</a:t>
                      </a:r>
                    </a:p>
                  </a:txBody>
                  <a:tcPr marL="91440" marR="91440" marT="45720" marB="45720" anchor="ctr">
                    <a:solidFill>
                      <a:srgbClr val="E9EFEB"/>
                    </a:solidFill>
                  </a:tcPr>
                </a:tc>
                <a:tc>
                  <a:txBody>
                    <a:bodyPr/>
                    <a:lstStyle/>
                    <a:p>
                      <a:pPr algn="ctr">
                        <a:buNone/>
                      </a:pPr>
                      <a:r>
                        <a:rPr sz="1950" b="0">
                          <a:solidFill>
                            <a:srgbClr val="15382F"/>
                          </a:solidFill>
                          <a:latin typeface="Arial"/>
                          <a:ea typeface="Arial"/>
                          <a:cs typeface="Arial"/>
                        </a:rPr>
                        <a:t>dB</a:t>
                      </a:r>
                    </a:p>
                  </a:txBody>
                  <a:tcPr marL="91440" marR="91440" marT="45720" marB="45720" anchor="ctr">
                    <a:solidFill>
                      <a:srgbClr val="E9EFEB"/>
                    </a:solidFill>
                  </a:tcPr>
                </a:tc>
                <a:tc>
                  <a:txBody>
                    <a:bodyPr/>
                    <a:lstStyle/>
                    <a:p>
                      <a:pPr algn="ctr">
                        <a:buNone/>
                      </a:pPr>
                      <a:r>
                        <a:rPr sz="1950" b="0">
                          <a:solidFill>
                            <a:srgbClr val="15382F"/>
                          </a:solidFill>
                          <a:latin typeface="Arial"/>
                          <a:ea typeface="Arial"/>
                          <a:cs typeface="Arial"/>
                        </a:rPr>
                        <a:t>Overall audio loudness</a:t>
                      </a:r>
                    </a:p>
                  </a:txBody>
                  <a:tcPr marL="91440" marR="91440" marT="45720" marB="45720" anchor="ctr">
                    <a:solidFill>
                      <a:srgbClr val="E9EFEB"/>
                    </a:solidFill>
                  </a:tcPr>
                </a:tc>
              </a:tr>
              <a:tr h="640080">
                <a:tc>
                  <a:txBody>
                    <a:bodyPr/>
                    <a:lstStyle/>
                    <a:p>
                      <a:pPr algn="l">
                        <a:buNone/>
                      </a:pPr>
                      <a:r>
                        <a:rPr sz="1950" b="0">
                          <a:solidFill>
                            <a:srgbClr val="15382F"/>
                          </a:solidFill>
                          <a:latin typeface="Arial"/>
                          <a:ea typeface="Arial"/>
                          <a:cs typeface="Arial"/>
                        </a:rPr>
                        <a:t>Duration</a:t>
                      </a:r>
                    </a:p>
                  </a:txBody>
                  <a:tcPr marL="91440" marR="91440" marT="45720" marB="45720" anchor="ctr">
                    <a:solidFill>
                      <a:srgbClr val="FFFFFF"/>
                    </a:solidFill>
                  </a:tcPr>
                </a:tc>
                <a:tc>
                  <a:txBody>
                    <a:bodyPr/>
                    <a:lstStyle/>
                    <a:p>
                      <a:pPr algn="ctr">
                        <a:buNone/>
                      </a:pPr>
                      <a:r>
                        <a:rPr sz="1950" b="0">
                          <a:solidFill>
                            <a:srgbClr val="15382F"/>
                          </a:solidFill>
                          <a:latin typeface="Arial"/>
                          <a:ea typeface="Arial"/>
                          <a:cs typeface="Arial"/>
                        </a:rPr>
                        <a:t>Seconds</a:t>
                      </a:r>
                    </a:p>
                  </a:txBody>
                  <a:tcPr marL="91440" marR="91440" marT="45720" marB="45720" anchor="ctr">
                    <a:solidFill>
                      <a:srgbClr val="FFFFFF"/>
                    </a:solidFill>
                  </a:tcPr>
                </a:tc>
                <a:tc>
                  <a:txBody>
                    <a:bodyPr/>
                    <a:lstStyle/>
                    <a:p>
                      <a:pPr algn="ctr">
                        <a:buNone/>
                      </a:pPr>
                      <a:r>
                        <a:rPr sz="1950" b="0">
                          <a:solidFill>
                            <a:srgbClr val="15382F"/>
                          </a:solidFill>
                          <a:latin typeface="Arial"/>
                          <a:ea typeface="Arial"/>
                          <a:cs typeface="Arial"/>
                        </a:rPr>
                        <a:t>Recording length</a:t>
                      </a:r>
                    </a:p>
                  </a:txBody>
                  <a:tcPr marL="91440" marR="91440" marT="45720" marB="45720" anchor="ctr">
                    <a:solidFill>
                      <a:srgbClr val="FFFFFF"/>
                    </a:solidFill>
                  </a:tcPr>
                </a:tc>
              </a:tr>
              <a:tr h="640080">
                <a:tc>
                  <a:txBody>
                    <a:bodyPr/>
                    <a:lstStyle/>
                    <a:p>
                      <a:pPr algn="l">
                        <a:buNone/>
                      </a:pPr>
                      <a:r>
                        <a:rPr sz="1950" b="0">
                          <a:solidFill>
                            <a:srgbClr val="15382F"/>
                          </a:solidFill>
                          <a:latin typeface="Arial"/>
                          <a:ea typeface="Arial"/>
                          <a:cs typeface="Arial"/>
                        </a:rPr>
                        <a:t>Artist Score</a:t>
                      </a:r>
                    </a:p>
                  </a:txBody>
                  <a:tcPr marL="91440" marR="91440" marT="45720" marB="45720" anchor="ctr">
                    <a:solidFill>
                      <a:srgbClr val="E9EFEB"/>
                    </a:solidFill>
                  </a:tcPr>
                </a:tc>
                <a:tc>
                  <a:txBody>
                    <a:bodyPr/>
                    <a:lstStyle/>
                    <a:p>
                      <a:pPr algn="ctr">
                        <a:buNone/>
                      </a:pPr>
                      <a:r>
                        <a:rPr sz="1950" b="0">
                          <a:solidFill>
                            <a:srgbClr val="15382F"/>
                          </a:solidFill>
                          <a:latin typeface="Arial"/>
                          <a:ea typeface="Arial"/>
                          <a:cs typeface="Arial"/>
                        </a:rPr>
                        <a:t>0 or 1</a:t>
                      </a:r>
                    </a:p>
                  </a:txBody>
                  <a:tcPr marL="91440" marR="91440" marT="45720" marB="45720" anchor="ctr">
                    <a:solidFill>
                      <a:srgbClr val="E9EFEB"/>
                    </a:solidFill>
                  </a:tcPr>
                </a:tc>
                <a:tc>
                  <a:txBody>
                    <a:bodyPr/>
                    <a:lstStyle/>
                    <a:p>
                      <a:pPr algn="ctr">
                        <a:buNone/>
                      </a:pPr>
                      <a:r>
                        <a:rPr sz="1950" b="0">
                          <a:solidFill>
                            <a:srgbClr val="15382F"/>
                          </a:solidFill>
                          <a:latin typeface="Arial"/>
                          <a:ea typeface="Arial"/>
                          <a:cs typeface="Arial"/>
                        </a:rPr>
                        <a:t>Earlier chart hit for a different song</a:t>
                      </a:r>
                    </a:p>
                  </a:txBody>
                  <a:tcPr marL="91440" marR="91440" marT="45720" marB="45720" anchor="ctr">
                    <a:solidFill>
                      <a:srgbClr val="E9EFEB"/>
                    </a:solidFill>
                  </a:tcPr>
                </a:tc>
              </a:tr>
            </a:tbl>
          </a:graphicData>
        </a:graphic>
      </p:graphicFrame>
      <p:sp>
        <p:nvSpPr>
          <p:cNvPr id="4" name="Artist Score excludes the current s">
            <a:extLst xmlns:a="http://schemas.openxmlformats.org/drawingml/2006/main">
              <a:ext uri="{FF2B5EF4-FFF2-40B4-BE49-F238E27FC236}">
                <a16:creationId xmlns:a16="http://schemas.microsoft.com/office/drawing/2014/main" id="{95EA273D-9265-4894-BB34-3CE9E468DF42}"/>
              </a:ext>
            </a:extLst>
          </p:cNvPr>
          <p:cNvSpPr>
            <a:spLocks xmlns:a="http://schemas.openxmlformats.org/drawingml/2006/main" noGrp="1"/>
          </p:cNvSpPr>
          <p:nvPr/>
        </p:nvSpPr>
        <p:spPr>
          <a:xfrm xmlns:a="http://schemas.openxmlformats.org/drawingml/2006/main">
            <a:off x="609600" y="514350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087F70"/>
                </a:solidFill>
                <a:latin typeface="Arial"/>
                <a:ea typeface="Arial"/>
                <a:cs typeface="Arial"/>
              </a:defRPr>
            </a:pPr>
            <a:r>
              <a:rPr sz="2175" b="1">
                <a:solidFill>
                  <a:srgbClr val="087F70"/>
                </a:solidFill>
                <a:latin typeface="Arial"/>
                <a:ea typeface="Arial"/>
                <a:cs typeface="Arial"/>
              </a:rPr>
              <a:t>Artist Score excludes the current song from its own history</a:t>
            </a:r>
          </a:p>
        </p:txBody>
      </p:sp>
      <p:sp>
        <p:nvSpPr>
          <p:cNvPr id="5" name="Identifiers and chart outcomes rema">
            <a:extLst xmlns:a="http://schemas.openxmlformats.org/drawingml/2006/main">
              <a:ext uri="{FF2B5EF4-FFF2-40B4-BE49-F238E27FC236}">
                <a16:creationId xmlns:a16="http://schemas.microsoft.com/office/drawing/2014/main" id="{549582E7-9C12-4CD5-80F6-9C6C60047496}"/>
              </a:ext>
            </a:extLst>
          </p:cNvPr>
          <p:cNvSpPr>
            <a:spLocks xmlns:a="http://schemas.openxmlformats.org/drawingml/2006/main" noGrp="1"/>
          </p:cNvSpPr>
          <p:nvPr/>
        </p:nvSpPr>
        <p:spPr>
          <a:xfrm xmlns:a="http://schemas.openxmlformats.org/drawingml/2006/main">
            <a:off x="609600" y="580072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B7068"/>
                </a:solidFill>
                <a:latin typeface="Arial"/>
                <a:ea typeface="Arial"/>
                <a:cs typeface="Arial"/>
              </a:defRPr>
            </a:pPr>
            <a:r>
              <a:rPr sz="1800" b="0">
                <a:solidFill>
                  <a:srgbClr val="5B7068"/>
                </a:solidFill>
                <a:latin typeface="Arial"/>
                <a:ea typeface="Arial"/>
                <a:cs typeface="Arial"/>
              </a:rPr>
              <a:t>Identifiers and chart outcomes remain outside the predictor inputs</a:t>
            </a:r>
          </a:p>
        </p:txBody>
      </p:sp>
    </p:spTree>
    <p:extLst>
      <p:ext uri="{BB962C8B-B14F-4D97-AF65-F5344CB8AC3E}">
        <p14:creationId xmlns:p14="http://schemas.microsoft.com/office/powerpoint/2010/main" val="2132252972"/>
      </p:ext>
    </p:extLst>
  </p:cSld>
</p:sld>
</file>

<file path=ppt/slides/slide4.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15" name="Data and modeling workflow">
            <a:extLst xmlns:a="http://schemas.openxmlformats.org/drawingml/2006/main">
              <a:ext uri="{FF2B5EF4-FFF2-40B4-BE49-F238E27FC236}">
                <a16:creationId xmlns:a16="http://schemas.microsoft.com/office/drawing/2014/main" id="{F2488F0B-9BA6-47A0-B2CB-77AF71BBA076}"/>
              </a:ext>
            </a:extLst>
          </p:cNvPr>
          <p:cNvSpPr>
            <a:spLocks xmlns:a="http://schemas.openxmlformats.org/drawingml/2006/main" noGrp="1"/>
          </p:cNvSpPr>
          <p:nvPr/>
        </p:nvSpPr>
        <p:spPr>
          <a:xfrm xmlns:a="http://schemas.openxmlformats.org/drawingml/2006/main">
            <a:off x="609600" y="45720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15382F"/>
                </a:solidFill>
                <a:latin typeface="Arial"/>
                <a:ea typeface="Arial"/>
                <a:cs typeface="Arial"/>
              </a:defRPr>
            </a:pPr>
            <a:r>
              <a:rPr sz="3300" b="1">
                <a:solidFill>
                  <a:srgbClr val="15382F"/>
                </a:solidFill>
                <a:latin typeface="Arial"/>
                <a:ea typeface="Arial"/>
                <a:cs typeface="Arial"/>
              </a:rPr>
              <a:t>Data cleaning and label construction</a:t>
            </a:r>
            <a:endParaRPr sz="3300" b="1">
              <a:solidFill>
                <a:srgbClr val="15382F"/>
              </a:solidFill>
              <a:latin typeface="Arial"/>
              <a:ea typeface="Arial"/>
              <a:cs typeface="Arial"/>
            </a:endParaRPr>
          </a:p>
        </p:txBody>
      </p:sp>
      <p:sp>
        <p:nvSpPr>
          <p:cNvPr id="2" name="04">
            <a:extLst xmlns:a="http://schemas.openxmlformats.org/drawingml/2006/main">
              <a:ext uri="{FF2B5EF4-FFF2-40B4-BE49-F238E27FC236}">
                <a16:creationId xmlns:a16="http://schemas.microsoft.com/office/drawing/2014/main" id="{4A16332D-C696-4617-999F-58A9BB022DAF}"/>
              </a:ext>
            </a:extLst>
          </p:cNvPr>
          <p:cNvSpPr>
            <a:spLocks xmlns:a="http://schemas.openxmlformats.org/drawingml/2006/main" noGrp="1"/>
          </p:cNvSpPr>
          <p:nvPr/>
        </p:nvSpPr>
        <p:spPr>
          <a:xfrm xmlns:a="http://schemas.openxmlformats.org/drawingml/2006/main">
            <a:off x="11239500" y="62674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b="0">
                <a:solidFill>
                  <a:srgbClr val="5B7068"/>
                </a:solidFill>
                <a:latin typeface="Arial"/>
                <a:ea typeface="Arial"/>
                <a:cs typeface="Arial"/>
              </a:defRPr>
            </a:pPr>
            <a:r>
              <a:rPr sz="1350" b="0">
                <a:solidFill>
                  <a:srgbClr val="5B7068"/>
                </a:solidFill>
                <a:latin typeface="Arial"/>
                <a:ea typeface="Arial"/>
                <a:cs typeface="Arial"/>
              </a:rPr>
              <a:t>04</a:t>
            </a:r>
            <a:endParaRPr sz="1350" b="0">
              <a:solidFill>
                <a:srgbClr val="5B7068"/>
              </a:solidFill>
              <a:latin typeface="Arial"/>
              <a:ea typeface="Arial"/>
              <a:cs typeface="Arial"/>
            </a:endParaRPr>
          </a:p>
        </p:txBody>
      </p:sp>
      <p:sp>
        <p:nvSpPr>
          <p:cNvPr id="3" name="01">
            <a:extLst xmlns:a="http://schemas.openxmlformats.org/drawingml/2006/main">
              <a:ext uri="{FF2B5EF4-FFF2-40B4-BE49-F238E27FC236}">
                <a16:creationId xmlns:a16="http://schemas.microsoft.com/office/drawing/2014/main" id="{324E2602-85D8-449E-BC46-EA19E4678DF6}"/>
              </a:ext>
            </a:extLst>
          </p:cNvPr>
          <p:cNvSpPr>
            <a:spLocks xmlns:a="http://schemas.openxmlformats.org/drawingml/2006/main" noGrp="1"/>
          </p:cNvSpPr>
          <p:nvPr/>
        </p:nvSpPr>
        <p:spPr>
          <a:xfrm xmlns:a="http://schemas.openxmlformats.org/drawingml/2006/main">
            <a:off x="628650" y="14732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087F70"/>
                </a:solidFill>
                <a:latin typeface="Arial"/>
                <a:ea typeface="Arial"/>
                <a:cs typeface="Arial"/>
              </a:defRPr>
            </a:pPr>
            <a:r>
              <a:rPr sz="2250" b="1">
                <a:solidFill>
                  <a:srgbClr val="087F70"/>
                </a:solidFill>
                <a:latin typeface="Arial"/>
                <a:ea typeface="Arial"/>
                <a:cs typeface="Arial"/>
              </a:rPr>
              <a:t>01</a:t>
            </a:r>
          </a:p>
        </p:txBody>
      </p:sp>
      <p:sp>
        <p:nvSpPr>
          <p:cNvPr id="4" name="Normalize and match songs">
            <a:extLst xmlns:a="http://schemas.openxmlformats.org/drawingml/2006/main">
              <a:ext uri="{FF2B5EF4-FFF2-40B4-BE49-F238E27FC236}">
                <a16:creationId xmlns:a16="http://schemas.microsoft.com/office/drawing/2014/main" id="{2D143F02-75BF-4FCB-98AD-711010C53323}"/>
              </a:ext>
            </a:extLst>
          </p:cNvPr>
          <p:cNvSpPr>
            <a:spLocks xmlns:a="http://schemas.openxmlformats.org/drawingml/2006/main" noGrp="1"/>
          </p:cNvSpPr>
          <p:nvPr/>
        </p:nvSpPr>
        <p:spPr>
          <a:xfrm xmlns:a="http://schemas.openxmlformats.org/drawingml/2006/main">
            <a:off x="1390650" y="1473200"/>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15382F"/>
                </a:solidFill>
                <a:latin typeface="Arial"/>
                <a:ea typeface="Arial"/>
                <a:cs typeface="Arial"/>
              </a:defRPr>
            </a:pPr>
            <a:r>
              <a:rPr sz="2100" b="1">
                <a:solidFill>
                  <a:srgbClr val="15382F"/>
                </a:solidFill>
                <a:latin typeface="Arial"/>
                <a:ea typeface="Arial"/>
                <a:cs typeface="Arial"/>
              </a:rPr>
              <a:t>Normalize identities and match songs</a:t>
            </a:r>
            <a:endParaRPr sz="2100" b="1">
              <a:solidFill>
                <a:srgbClr val="15382F"/>
              </a:solidFill>
              <a:latin typeface="Arial"/>
              <a:ea typeface="Arial"/>
              <a:cs typeface="Arial"/>
            </a:endParaRPr>
          </a:p>
        </p:txBody>
      </p:sp>
      <p:sp>
        <p:nvSpPr>
          <p:cNvPr id="5" name="Clean artist and title keys, then j">
            <a:extLst xmlns:a="http://schemas.openxmlformats.org/drawingml/2006/main">
              <a:ext uri="{FF2B5EF4-FFF2-40B4-BE49-F238E27FC236}">
                <a16:creationId xmlns:a16="http://schemas.microsoft.com/office/drawing/2014/main" id="{754D7374-6C96-420A-A5C0-4D746F099D49}"/>
              </a:ext>
            </a:extLst>
          </p:cNvPr>
          <p:cNvSpPr>
            <a:spLocks xmlns:a="http://schemas.openxmlformats.org/drawingml/2006/main" noGrp="1"/>
          </p:cNvSpPr>
          <p:nvPr/>
        </p:nvSpPr>
        <p:spPr>
          <a:xfrm xmlns:a="http://schemas.openxmlformats.org/drawingml/2006/main">
            <a:off x="1390650" y="1879600"/>
            <a:ext cx="9906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B7068"/>
                </a:solidFill>
                <a:latin typeface="Arial"/>
                <a:ea typeface="Arial"/>
                <a:cs typeface="Arial"/>
              </a:defRPr>
            </a:pPr>
            <a:r>
              <a:rPr b="0">
                <a:solidFill>
                  <a:srgbClr val="5B7068"/>
                </a:solidFill>
                <a:latin typeface="Arial"/>
                <a:ea typeface="Arial"/>
                <a:cs typeface="Arial"/>
              </a:rPr>
              <a:t>Clean case, accents, punctuation and title version suffixes.</a:t>
            </a:r>
          </a:p>
          <a:p xmlns:a="http://schemas.openxmlformats.org/drawingml/2006/main">
            <a:pPr>
              <a:buNone/>
              <a:defRPr sz="1800" b="0">
                <a:solidFill>
                  <a:srgbClr val="5B7068"/>
                </a:solidFill>
                <a:latin typeface="Arial"/>
                <a:ea typeface="Arial"/>
                <a:cs typeface="Arial"/>
              </a:defRPr>
            </a:pPr>
            <a:r>
              <a:rPr b="0">
                <a:solidFill>
                  <a:srgbClr val="5B7068"/>
                </a:solidFill>
                <a:latin typeface="Arial"/>
                <a:ea typeface="Arial"/>
                <a:cs typeface="Arial"/>
              </a:rPr>
              <a:t>Match exact artist/title keys to Billboard records. Keep one row per song.</a:t>
            </a:r>
            <a:endParaRPr b="0">
              <a:solidFill>
                <a:srgbClr val="5B7068"/>
              </a:solidFill>
              <a:latin typeface="Arial"/>
              <a:ea typeface="Arial"/>
              <a:cs typeface="Arial"/>
            </a:endParaRPr>
          </a:p>
        </p:txBody>
      </p:sp>
      <p:sp>
        <p:nvSpPr>
          <p:cNvPr id="6" name="02">
            <a:extLst xmlns:a="http://schemas.openxmlformats.org/drawingml/2006/main">
              <a:ext uri="{FF2B5EF4-FFF2-40B4-BE49-F238E27FC236}">
                <a16:creationId xmlns:a16="http://schemas.microsoft.com/office/drawing/2014/main" id="{B8B16532-5D9C-423B-9324-AAC14AD55F71}"/>
              </a:ext>
            </a:extLst>
          </p:cNvPr>
          <p:cNvSpPr>
            <a:spLocks xmlns:a="http://schemas.openxmlformats.org/drawingml/2006/main" noGrp="1"/>
          </p:cNvSpPr>
          <p:nvPr/>
        </p:nvSpPr>
        <p:spPr>
          <a:xfrm xmlns:a="http://schemas.openxmlformats.org/drawingml/2006/main">
            <a:off x="628650" y="26670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087F70"/>
                </a:solidFill>
                <a:latin typeface="Arial"/>
                <a:ea typeface="Arial"/>
                <a:cs typeface="Arial"/>
              </a:defRPr>
            </a:pPr>
            <a:r>
              <a:rPr sz="2250" b="1">
                <a:solidFill>
                  <a:srgbClr val="087F70"/>
                </a:solidFill>
                <a:latin typeface="Arial"/>
                <a:ea typeface="Arial"/>
                <a:cs typeface="Arial"/>
              </a:rPr>
              <a:t>02</a:t>
            </a:r>
          </a:p>
        </p:txBody>
      </p:sp>
      <p:sp>
        <p:nvSpPr>
          <p:cNvPr id="7" name="Build labels and history">
            <a:extLst xmlns:a="http://schemas.openxmlformats.org/drawingml/2006/main">
              <a:ext uri="{FF2B5EF4-FFF2-40B4-BE49-F238E27FC236}">
                <a16:creationId xmlns:a16="http://schemas.microsoft.com/office/drawing/2014/main" id="{BA65FCD5-F57E-4ACD-B908-35F4AA06090D}"/>
              </a:ext>
            </a:extLst>
          </p:cNvPr>
          <p:cNvSpPr>
            <a:spLocks xmlns:a="http://schemas.openxmlformats.org/drawingml/2006/main" noGrp="1"/>
          </p:cNvSpPr>
          <p:nvPr/>
        </p:nvSpPr>
        <p:spPr>
          <a:xfrm xmlns:a="http://schemas.openxmlformats.org/drawingml/2006/main">
            <a:off x="1390650" y="2667000"/>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15382F"/>
                </a:solidFill>
                <a:latin typeface="Arial"/>
                <a:ea typeface="Arial"/>
                <a:cs typeface="Arial"/>
              </a:defRPr>
            </a:pPr>
            <a:r>
              <a:rPr sz="2100" b="1">
                <a:solidFill>
                  <a:srgbClr val="15382F"/>
                </a:solidFill>
                <a:latin typeface="Arial"/>
                <a:ea typeface="Arial"/>
                <a:cs typeface="Arial"/>
              </a:rPr>
              <a:t>Validate numeric audio features</a:t>
            </a:r>
            <a:endParaRPr sz="2100" b="1">
              <a:solidFill>
                <a:srgbClr val="15382F"/>
              </a:solidFill>
              <a:latin typeface="Arial"/>
              <a:ea typeface="Arial"/>
              <a:cs typeface="Arial"/>
            </a:endParaRPr>
          </a:p>
        </p:txBody>
      </p:sp>
      <p:sp>
        <p:nvSpPr>
          <p:cNvPr id="8" name="Assign hit labels and compute earli">
            <a:extLst xmlns:a="http://schemas.openxmlformats.org/drawingml/2006/main">
              <a:ext uri="{FF2B5EF4-FFF2-40B4-BE49-F238E27FC236}">
                <a16:creationId xmlns:a16="http://schemas.microsoft.com/office/drawing/2014/main" id="{8E9A246A-21E4-491A-9FB5-806A556BA886}"/>
              </a:ext>
            </a:extLst>
          </p:cNvPr>
          <p:cNvSpPr>
            <a:spLocks xmlns:a="http://schemas.openxmlformats.org/drawingml/2006/main" noGrp="1"/>
          </p:cNvSpPr>
          <p:nvPr/>
        </p:nvSpPr>
        <p:spPr>
          <a:xfrm xmlns:a="http://schemas.openxmlformats.org/drawingml/2006/main">
            <a:off x="1390650" y="3073400"/>
            <a:ext cx="9906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B7068"/>
                </a:solidFill>
                <a:latin typeface="Arial"/>
                <a:ea typeface="Arial"/>
                <a:cs typeface="Arial"/>
              </a:defRPr>
            </a:pPr>
            <a:r>
              <a:rPr b="0">
                <a:solidFill>
                  <a:srgbClr val="5B7068"/>
                </a:solidFill>
                <a:latin typeface="Arial"/>
                <a:ea typeface="Arial"/>
                <a:cs typeface="Arial"/>
              </a:rPr>
              <a:t>Remove missing or non-finite audio values. Require positive tempo and duration.</a:t>
            </a:r>
          </a:p>
          <a:p xmlns:a="http://schemas.openxmlformats.org/drawingml/2006/main">
            <a:pPr>
              <a:buNone/>
              <a:defRPr sz="1800" b="0">
                <a:solidFill>
                  <a:srgbClr val="5B7068"/>
                </a:solidFill>
                <a:latin typeface="Arial"/>
                <a:ea typeface="Arial"/>
                <a:cs typeface="Arial"/>
              </a:defRPr>
            </a:pPr>
            <a:r>
              <a:rPr b="0">
                <a:solidFill>
                  <a:srgbClr val="5B7068"/>
                </a:solidFill>
                <a:latin typeface="Arial"/>
                <a:ea typeface="Arial"/>
                <a:cs typeface="Arial"/>
              </a:rPr>
              <a:t>Exclude energy and danceability because both are constant zero in this release.</a:t>
            </a:r>
            <a:endParaRPr b="0">
              <a:solidFill>
                <a:srgbClr val="5B7068"/>
              </a:solidFill>
              <a:latin typeface="Arial"/>
              <a:ea typeface="Arial"/>
              <a:cs typeface="Arial"/>
            </a:endParaRPr>
          </a:p>
        </p:txBody>
      </p:sp>
      <p:sp>
        <p:nvSpPr>
          <p:cNvPr id="9" name="03">
            <a:extLst xmlns:a="http://schemas.openxmlformats.org/drawingml/2006/main">
              <a:ext uri="{FF2B5EF4-FFF2-40B4-BE49-F238E27FC236}">
                <a16:creationId xmlns:a16="http://schemas.microsoft.com/office/drawing/2014/main" id="{1E4381B6-ADD7-410C-94F4-D0DCCBDDA7C4}"/>
              </a:ext>
            </a:extLst>
          </p:cNvPr>
          <p:cNvSpPr>
            <a:spLocks xmlns:a="http://schemas.openxmlformats.org/drawingml/2006/main" noGrp="1"/>
          </p:cNvSpPr>
          <p:nvPr/>
        </p:nvSpPr>
        <p:spPr>
          <a:xfrm xmlns:a="http://schemas.openxmlformats.org/drawingml/2006/main">
            <a:off x="628650" y="38608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087F70"/>
                </a:solidFill>
                <a:latin typeface="Arial"/>
                <a:ea typeface="Arial"/>
                <a:cs typeface="Arial"/>
              </a:defRPr>
            </a:pPr>
            <a:r>
              <a:rPr sz="2250" b="1">
                <a:solidFill>
                  <a:srgbClr val="087F70"/>
                </a:solidFill>
                <a:latin typeface="Arial"/>
                <a:ea typeface="Arial"/>
                <a:cs typeface="Arial"/>
              </a:rPr>
              <a:t>03</a:t>
            </a:r>
          </a:p>
        </p:txBody>
      </p:sp>
      <p:sp>
        <p:nvSpPr>
          <p:cNvPr id="10" name="Prepare training pipelines">
            <a:extLst xmlns:a="http://schemas.openxmlformats.org/drawingml/2006/main">
              <a:ext uri="{FF2B5EF4-FFF2-40B4-BE49-F238E27FC236}">
                <a16:creationId xmlns:a16="http://schemas.microsoft.com/office/drawing/2014/main" id="{BEF75AE3-47A1-4E25-9F26-DE4C9D8A9D07}"/>
              </a:ext>
            </a:extLst>
          </p:cNvPr>
          <p:cNvSpPr>
            <a:spLocks xmlns:a="http://schemas.openxmlformats.org/drawingml/2006/main" noGrp="1"/>
          </p:cNvSpPr>
          <p:nvPr/>
        </p:nvSpPr>
        <p:spPr>
          <a:xfrm xmlns:a="http://schemas.openxmlformats.org/drawingml/2006/main">
            <a:off x="1390650" y="3860800"/>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15382F"/>
                </a:solidFill>
                <a:latin typeface="Arial"/>
                <a:ea typeface="Arial"/>
                <a:cs typeface="Arial"/>
              </a:defRPr>
            </a:pPr>
            <a:r>
              <a:rPr sz="2100" b="1">
                <a:solidFill>
                  <a:srgbClr val="15382F"/>
                </a:solidFill>
                <a:latin typeface="Arial"/>
                <a:ea typeface="Arial"/>
                <a:cs typeface="Arial"/>
              </a:rPr>
              <a:t>Assign labels and balance the sample</a:t>
            </a:r>
            <a:endParaRPr sz="2100" b="1">
              <a:solidFill>
                <a:srgbClr val="15382F"/>
              </a:solidFill>
              <a:latin typeface="Arial"/>
              <a:ea typeface="Arial"/>
              <a:cs typeface="Arial"/>
            </a:endParaRPr>
          </a:p>
        </p:txBody>
      </p:sp>
      <p:sp>
        <p:nvSpPr>
          <p:cNvPr id="11" name="Fit imputation and model-specific s">
            <a:extLst xmlns:a="http://schemas.openxmlformats.org/drawingml/2006/main">
              <a:ext uri="{FF2B5EF4-FFF2-40B4-BE49-F238E27FC236}">
                <a16:creationId xmlns:a16="http://schemas.microsoft.com/office/drawing/2014/main" id="{B95D5C44-D61D-4E83-A0DF-E45252C64220}"/>
              </a:ext>
            </a:extLst>
          </p:cNvPr>
          <p:cNvSpPr>
            <a:spLocks xmlns:a="http://schemas.openxmlformats.org/drawingml/2006/main" noGrp="1"/>
          </p:cNvSpPr>
          <p:nvPr/>
        </p:nvSpPr>
        <p:spPr>
          <a:xfrm xmlns:a="http://schemas.openxmlformats.org/drawingml/2006/main">
            <a:off x="1390650" y="4267200"/>
            <a:ext cx="9906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B7068"/>
                </a:solidFill>
                <a:latin typeface="Arial"/>
                <a:ea typeface="Arial"/>
                <a:cs typeface="Arial"/>
              </a:defRPr>
            </a:pPr>
            <a:r>
              <a:rPr b="0">
                <a:solidFill>
                  <a:srgbClr val="5B7068"/>
                </a:solidFill>
                <a:latin typeface="Arial"/>
                <a:ea typeface="Arial"/>
                <a:cs typeface="Arial"/>
              </a:rPr>
              <a:t>Billboard matches receive label 1. Eligible songs without a match receive 0.</a:t>
            </a:r>
          </a:p>
          <a:p xmlns:a="http://schemas.openxmlformats.org/drawingml/2006/main">
            <a:pPr>
              <a:buNone/>
              <a:defRPr sz="1800" b="0">
                <a:solidFill>
                  <a:srgbClr val="5B7068"/>
                </a:solidFill>
                <a:latin typeface="Arial"/>
                <a:ea typeface="Arial"/>
                <a:cs typeface="Arial"/>
              </a:defRPr>
            </a:pPr>
            <a:r>
              <a:rPr b="0">
                <a:solidFill>
                  <a:srgbClr val="5B7068"/>
                </a:solidFill>
                <a:latin typeface="Arial"/>
                <a:ea typeface="Arial"/>
                <a:cs typeface="Arial"/>
              </a:rPr>
              <a:t>Sample 2,000 songs per class with seed 42 to create the 4,000-song dataset.</a:t>
            </a:r>
            <a:endParaRPr b="0">
              <a:solidFill>
                <a:srgbClr val="5B7068"/>
              </a:solidFill>
              <a:latin typeface="Arial"/>
              <a:ea typeface="Arial"/>
              <a:cs typeface="Arial"/>
            </a:endParaRPr>
          </a:p>
        </p:txBody>
      </p:sp>
      <p:sp>
        <p:nvSpPr>
          <p:cNvPr id="12" name="04">
            <a:extLst xmlns:a="http://schemas.openxmlformats.org/drawingml/2006/main">
              <a:ext uri="{FF2B5EF4-FFF2-40B4-BE49-F238E27FC236}">
                <a16:creationId xmlns:a16="http://schemas.microsoft.com/office/drawing/2014/main" id="{80BE7518-48EE-4069-874D-8783FF59FD28}"/>
              </a:ext>
            </a:extLst>
          </p:cNvPr>
          <p:cNvSpPr>
            <a:spLocks xmlns:a="http://schemas.openxmlformats.org/drawingml/2006/main" noGrp="1"/>
          </p:cNvSpPr>
          <p:nvPr/>
        </p:nvSpPr>
        <p:spPr>
          <a:xfrm xmlns:a="http://schemas.openxmlformats.org/drawingml/2006/main">
            <a:off x="628650" y="50546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087F70"/>
                </a:solidFill>
                <a:latin typeface="Arial"/>
                <a:ea typeface="Arial"/>
                <a:cs typeface="Arial"/>
              </a:defRPr>
            </a:pPr>
            <a:r>
              <a:rPr sz="2250" b="1">
                <a:solidFill>
                  <a:srgbClr val="087F70"/>
                </a:solidFill>
                <a:latin typeface="Arial"/>
                <a:ea typeface="Arial"/>
                <a:cs typeface="Arial"/>
              </a:rPr>
              <a:t>04</a:t>
            </a:r>
          </a:p>
        </p:txBody>
      </p:sp>
      <p:sp>
        <p:nvSpPr>
          <p:cNvPr id="13" name="Tune and preserve models">
            <a:extLst xmlns:a="http://schemas.openxmlformats.org/drawingml/2006/main">
              <a:ext uri="{FF2B5EF4-FFF2-40B4-BE49-F238E27FC236}">
                <a16:creationId xmlns:a16="http://schemas.microsoft.com/office/drawing/2014/main" id="{0E7AA8B9-990F-4C97-9064-6953F5BEAF9A}"/>
              </a:ext>
            </a:extLst>
          </p:cNvPr>
          <p:cNvSpPr>
            <a:spLocks xmlns:a="http://schemas.openxmlformats.org/drawingml/2006/main" noGrp="1"/>
          </p:cNvSpPr>
          <p:nvPr/>
        </p:nvSpPr>
        <p:spPr>
          <a:xfrm xmlns:a="http://schemas.openxmlformats.org/drawingml/2006/main">
            <a:off x="1390650" y="5054600"/>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15382F"/>
                </a:solidFill>
                <a:latin typeface="Arial"/>
                <a:ea typeface="Arial"/>
                <a:cs typeface="Arial"/>
              </a:defRPr>
            </a:pPr>
            <a:r>
              <a:rPr sz="2100" b="1">
                <a:solidFill>
                  <a:srgbClr val="15382F"/>
                </a:solidFill>
                <a:latin typeface="Arial"/>
                <a:ea typeface="Arial"/>
                <a:cs typeface="Arial"/>
              </a:rPr>
              <a:t>Engineer Artist Score from earlier history</a:t>
            </a:r>
            <a:endParaRPr sz="2100" b="1">
              <a:solidFill>
                <a:srgbClr val="15382F"/>
              </a:solidFill>
              <a:latin typeface="Arial"/>
              <a:ea typeface="Arial"/>
              <a:cs typeface="Arial"/>
            </a:endParaRPr>
          </a:p>
        </p:txBody>
      </p:sp>
      <p:sp>
        <p:nvSpPr>
          <p:cNvPr id="14" name="Compare classifiers, evaluate predi">
            <a:extLst xmlns:a="http://schemas.openxmlformats.org/drawingml/2006/main">
              <a:ext uri="{FF2B5EF4-FFF2-40B4-BE49-F238E27FC236}">
                <a16:creationId xmlns:a16="http://schemas.microsoft.com/office/drawing/2014/main" id="{4A9894C5-40CB-48D9-B451-FDF05BE26C68}"/>
              </a:ext>
            </a:extLst>
          </p:cNvPr>
          <p:cNvSpPr>
            <a:spLocks xmlns:a="http://schemas.openxmlformats.org/drawingml/2006/main" noGrp="1"/>
          </p:cNvSpPr>
          <p:nvPr/>
        </p:nvSpPr>
        <p:spPr>
          <a:xfrm xmlns:a="http://schemas.openxmlformats.org/drawingml/2006/main">
            <a:off x="1390650" y="5461000"/>
            <a:ext cx="9906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B7068"/>
                </a:solidFill>
                <a:latin typeface="Arial"/>
                <a:ea typeface="Arial"/>
                <a:cs typeface="Arial"/>
              </a:defRPr>
            </a:pPr>
            <a:r>
              <a:rPr b="0">
                <a:solidFill>
                  <a:srgbClr val="5B7068"/>
                </a:solidFill>
                <a:latin typeface="Arial"/>
                <a:ea typeface="Arial"/>
                <a:cs typeface="Arial"/>
              </a:rPr>
              <a:t>Set Artist Score to 1 if the artist had an earlier hit for a different song.</a:t>
            </a:r>
          </a:p>
          <a:p xmlns:a="http://schemas.openxmlformats.org/drawingml/2006/main">
            <a:pPr>
              <a:buNone/>
              <a:defRPr sz="1800" b="0">
                <a:solidFill>
                  <a:srgbClr val="5B7068"/>
                </a:solidFill>
                <a:latin typeface="Arial"/>
                <a:ea typeface="Arial"/>
                <a:cs typeface="Arial"/>
              </a:defRPr>
            </a:pPr>
            <a:r>
              <a:rPr b="0">
                <a:solidFill>
                  <a:srgbClr val="5B7068"/>
                </a:solidFill>
                <a:latin typeface="Arial"/>
                <a:ea typeface="Arial"/>
                <a:cs typeface="Arial"/>
              </a:rPr>
              <a:t>Exclude the current song and future chart events to prevent target leakage.</a:t>
            </a:r>
            <a:endParaRPr b="0">
              <a:solidFill>
                <a:srgbClr val="5B7068"/>
              </a:solidFill>
              <a:latin typeface="Arial"/>
              <a:ea typeface="Arial"/>
              <a:cs typeface="Arial"/>
            </a:endParaRPr>
          </a:p>
        </p:txBody>
      </p:sp>
    </p:spTree>
    <p:extLst>
      <p:ext uri="{BB962C8B-B14F-4D97-AF65-F5344CB8AC3E}">
        <p14:creationId xmlns:p14="http://schemas.microsoft.com/office/powerpoint/2010/main" val="1021520210"/>
      </p:ext>
    </p:extLst>
  </p:cSld>
</p:sld>
</file>

<file path=ppt/slides/slide5.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15" name="Data and modeling workflow">
            <a:extLst xmlns:a="http://schemas.openxmlformats.org/drawingml/2006/main">
              <a:ext uri="{FF2B5EF4-FFF2-40B4-BE49-F238E27FC236}">
                <a16:creationId xmlns:a16="http://schemas.microsoft.com/office/drawing/2014/main" id="{F2488F0B-9BA6-47A0-B2CB-77AF71BBA076}"/>
              </a:ext>
            </a:extLst>
          </p:cNvPr>
          <p:cNvSpPr>
            <a:spLocks xmlns:a="http://schemas.openxmlformats.org/drawingml/2006/main" noGrp="1"/>
          </p:cNvSpPr>
          <p:nvPr/>
        </p:nvSpPr>
        <p:spPr>
          <a:xfrm xmlns:a="http://schemas.openxmlformats.org/drawingml/2006/main">
            <a:off x="609600" y="45720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15382F"/>
                </a:solidFill>
                <a:latin typeface="Arial"/>
                <a:ea typeface="Arial"/>
                <a:cs typeface="Arial"/>
              </a:defRPr>
            </a:pPr>
            <a:r>
              <a:rPr sz="3300" b="1">
                <a:solidFill>
                  <a:srgbClr val="15382F"/>
                </a:solidFill>
                <a:latin typeface="Arial"/>
                <a:ea typeface="Arial"/>
                <a:cs typeface="Arial"/>
              </a:rPr>
              <a:t>Training-only preprocessing</a:t>
            </a:r>
            <a:endParaRPr sz="3300" b="1">
              <a:solidFill>
                <a:srgbClr val="15382F"/>
              </a:solidFill>
              <a:latin typeface="Arial"/>
              <a:ea typeface="Arial"/>
              <a:cs typeface="Arial"/>
            </a:endParaRPr>
          </a:p>
        </p:txBody>
      </p:sp>
      <p:sp>
        <p:nvSpPr>
          <p:cNvPr id="2" name="04">
            <a:extLst xmlns:a="http://schemas.openxmlformats.org/drawingml/2006/main">
              <a:ext uri="{FF2B5EF4-FFF2-40B4-BE49-F238E27FC236}">
                <a16:creationId xmlns:a16="http://schemas.microsoft.com/office/drawing/2014/main" id="{4A16332D-C696-4617-999F-58A9BB022DAF}"/>
              </a:ext>
            </a:extLst>
          </p:cNvPr>
          <p:cNvSpPr>
            <a:spLocks xmlns:a="http://schemas.openxmlformats.org/drawingml/2006/main" noGrp="1"/>
          </p:cNvSpPr>
          <p:nvPr/>
        </p:nvSpPr>
        <p:spPr>
          <a:xfrm xmlns:a="http://schemas.openxmlformats.org/drawingml/2006/main">
            <a:off x="11239500" y="62674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b="0">
                <a:solidFill>
                  <a:srgbClr val="5B7068"/>
                </a:solidFill>
                <a:latin typeface="Arial"/>
                <a:ea typeface="Arial"/>
                <a:cs typeface="Arial"/>
              </a:defRPr>
            </a:pPr>
            <a:r>
              <a:rPr sz="1350" b="0">
                <a:solidFill>
                  <a:srgbClr val="5B7068"/>
                </a:solidFill>
                <a:latin typeface="Arial"/>
                <a:ea typeface="Arial"/>
                <a:cs typeface="Arial"/>
              </a:rPr>
              <a:t>05</a:t>
            </a:r>
            <a:endParaRPr sz="1350" b="0">
              <a:solidFill>
                <a:srgbClr val="5B7068"/>
              </a:solidFill>
              <a:latin typeface="Arial"/>
              <a:ea typeface="Arial"/>
              <a:cs typeface="Arial"/>
            </a:endParaRPr>
          </a:p>
        </p:txBody>
      </p:sp>
      <p:sp>
        <p:nvSpPr>
          <p:cNvPr id="3" name="01">
            <a:extLst xmlns:a="http://schemas.openxmlformats.org/drawingml/2006/main">
              <a:ext uri="{FF2B5EF4-FFF2-40B4-BE49-F238E27FC236}">
                <a16:creationId xmlns:a16="http://schemas.microsoft.com/office/drawing/2014/main" id="{324E2602-85D8-449E-BC46-EA19E4678DF6}"/>
              </a:ext>
            </a:extLst>
          </p:cNvPr>
          <p:cNvSpPr>
            <a:spLocks xmlns:a="http://schemas.openxmlformats.org/drawingml/2006/main" noGrp="1"/>
          </p:cNvSpPr>
          <p:nvPr/>
        </p:nvSpPr>
        <p:spPr>
          <a:xfrm xmlns:a="http://schemas.openxmlformats.org/drawingml/2006/main">
            <a:off x="628650" y="14732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087F70"/>
                </a:solidFill>
                <a:latin typeface="Arial"/>
                <a:ea typeface="Arial"/>
                <a:cs typeface="Arial"/>
              </a:defRPr>
            </a:pPr>
            <a:r>
              <a:rPr sz="2250" b="1">
                <a:solidFill>
                  <a:srgbClr val="087F70"/>
                </a:solidFill>
                <a:latin typeface="Arial"/>
                <a:ea typeface="Arial"/>
                <a:cs typeface="Arial"/>
              </a:rPr>
              <a:t>01</a:t>
            </a:r>
          </a:p>
        </p:txBody>
      </p:sp>
      <p:sp>
        <p:nvSpPr>
          <p:cNvPr id="4" name="Normalize and match songs">
            <a:extLst xmlns:a="http://schemas.openxmlformats.org/drawingml/2006/main">
              <a:ext uri="{FF2B5EF4-FFF2-40B4-BE49-F238E27FC236}">
                <a16:creationId xmlns:a16="http://schemas.microsoft.com/office/drawing/2014/main" id="{2D143F02-75BF-4FCB-98AD-711010C53323}"/>
              </a:ext>
            </a:extLst>
          </p:cNvPr>
          <p:cNvSpPr>
            <a:spLocks xmlns:a="http://schemas.openxmlformats.org/drawingml/2006/main" noGrp="1"/>
          </p:cNvSpPr>
          <p:nvPr/>
        </p:nvSpPr>
        <p:spPr>
          <a:xfrm xmlns:a="http://schemas.openxmlformats.org/drawingml/2006/main">
            <a:off x="1390650" y="1473200"/>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15382F"/>
                </a:solidFill>
                <a:latin typeface="Arial"/>
                <a:ea typeface="Arial"/>
                <a:cs typeface="Arial"/>
              </a:defRPr>
            </a:pPr>
            <a:r>
              <a:rPr sz="2100" b="1">
                <a:solidFill>
                  <a:srgbClr val="15382F"/>
                </a:solidFill>
                <a:latin typeface="Arial"/>
                <a:ea typeface="Arial"/>
                <a:cs typeface="Arial"/>
              </a:rPr>
              <a:t>Keep only the four approved inputs</a:t>
            </a:r>
            <a:endParaRPr sz="2100" b="1">
              <a:solidFill>
                <a:srgbClr val="15382F"/>
              </a:solidFill>
              <a:latin typeface="Arial"/>
              <a:ea typeface="Arial"/>
              <a:cs typeface="Arial"/>
            </a:endParaRPr>
          </a:p>
        </p:txBody>
      </p:sp>
      <p:sp>
        <p:nvSpPr>
          <p:cNvPr id="5" name="Clean artist and title keys, then j">
            <a:extLst xmlns:a="http://schemas.openxmlformats.org/drawingml/2006/main">
              <a:ext uri="{FF2B5EF4-FFF2-40B4-BE49-F238E27FC236}">
                <a16:creationId xmlns:a16="http://schemas.microsoft.com/office/drawing/2014/main" id="{754D7374-6C96-420A-A5C0-4D746F099D49}"/>
              </a:ext>
            </a:extLst>
          </p:cNvPr>
          <p:cNvSpPr>
            <a:spLocks xmlns:a="http://schemas.openxmlformats.org/drawingml/2006/main" noGrp="1"/>
          </p:cNvSpPr>
          <p:nvPr/>
        </p:nvSpPr>
        <p:spPr>
          <a:xfrm xmlns:a="http://schemas.openxmlformats.org/drawingml/2006/main">
            <a:off x="1390650" y="1879600"/>
            <a:ext cx="9906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B7068"/>
                </a:solidFill>
                <a:latin typeface="Arial"/>
                <a:ea typeface="Arial"/>
                <a:cs typeface="Arial"/>
              </a:defRPr>
            </a:pPr>
            <a:r>
              <a:rPr b="0">
                <a:solidFill>
                  <a:srgbClr val="5B7068"/>
                </a:solidFill>
                <a:latin typeface="Arial"/>
                <a:ea typeface="Arial"/>
                <a:cs typeface="Arial"/>
              </a:rPr>
              <a:t>Use tempo, loudness, duration and binary Artist Score as predictors.</a:t>
            </a:r>
          </a:p>
          <a:p xmlns:a="http://schemas.openxmlformats.org/drawingml/2006/main">
            <a:pPr>
              <a:buNone/>
              <a:defRPr sz="1800" b="0">
                <a:solidFill>
                  <a:srgbClr val="5B7068"/>
                </a:solidFill>
                <a:latin typeface="Arial"/>
                <a:ea typeface="Arial"/>
                <a:cs typeface="Arial"/>
              </a:defRPr>
            </a:pPr>
            <a:r>
              <a:rPr b="0">
                <a:solidFill>
                  <a:srgbClr val="5B7068"/>
                </a:solidFill>
                <a:latin typeface="Arial"/>
                <a:ea typeface="Arial"/>
                <a:cs typeface="Arial"/>
              </a:rPr>
              <a:t>Drop IDs, names, dates, chart ranks and other metadata from model inputs.</a:t>
            </a:r>
            <a:endParaRPr b="0">
              <a:solidFill>
                <a:srgbClr val="5B7068"/>
              </a:solidFill>
              <a:latin typeface="Arial"/>
              <a:ea typeface="Arial"/>
              <a:cs typeface="Arial"/>
            </a:endParaRPr>
          </a:p>
        </p:txBody>
      </p:sp>
      <p:sp>
        <p:nvSpPr>
          <p:cNvPr id="6" name="02">
            <a:extLst xmlns:a="http://schemas.openxmlformats.org/drawingml/2006/main">
              <a:ext uri="{FF2B5EF4-FFF2-40B4-BE49-F238E27FC236}">
                <a16:creationId xmlns:a16="http://schemas.microsoft.com/office/drawing/2014/main" id="{B8B16532-5D9C-423B-9324-AAC14AD55F71}"/>
              </a:ext>
            </a:extLst>
          </p:cNvPr>
          <p:cNvSpPr>
            <a:spLocks xmlns:a="http://schemas.openxmlformats.org/drawingml/2006/main" noGrp="1"/>
          </p:cNvSpPr>
          <p:nvPr/>
        </p:nvSpPr>
        <p:spPr>
          <a:xfrm xmlns:a="http://schemas.openxmlformats.org/drawingml/2006/main">
            <a:off x="628650" y="26670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087F70"/>
                </a:solidFill>
                <a:latin typeface="Arial"/>
                <a:ea typeface="Arial"/>
                <a:cs typeface="Arial"/>
              </a:defRPr>
            </a:pPr>
            <a:r>
              <a:rPr sz="2250" b="1">
                <a:solidFill>
                  <a:srgbClr val="087F70"/>
                </a:solidFill>
                <a:latin typeface="Arial"/>
                <a:ea typeface="Arial"/>
                <a:cs typeface="Arial"/>
              </a:rPr>
              <a:t>02</a:t>
            </a:r>
          </a:p>
        </p:txBody>
      </p:sp>
      <p:sp>
        <p:nvSpPr>
          <p:cNvPr id="7" name="Build labels and history">
            <a:extLst xmlns:a="http://schemas.openxmlformats.org/drawingml/2006/main">
              <a:ext uri="{FF2B5EF4-FFF2-40B4-BE49-F238E27FC236}">
                <a16:creationId xmlns:a16="http://schemas.microsoft.com/office/drawing/2014/main" id="{BA65FCD5-F57E-4ACD-B908-35F4AA06090D}"/>
              </a:ext>
            </a:extLst>
          </p:cNvPr>
          <p:cNvSpPr>
            <a:spLocks xmlns:a="http://schemas.openxmlformats.org/drawingml/2006/main" noGrp="1"/>
          </p:cNvSpPr>
          <p:nvPr/>
        </p:nvSpPr>
        <p:spPr>
          <a:xfrm xmlns:a="http://schemas.openxmlformats.org/drawingml/2006/main">
            <a:off x="1390650" y="2667000"/>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15382F"/>
                </a:solidFill>
                <a:latin typeface="Arial"/>
                <a:ea typeface="Arial"/>
                <a:cs typeface="Arial"/>
              </a:defRPr>
            </a:pPr>
            <a:r>
              <a:rPr sz="2100" b="1">
                <a:solidFill>
                  <a:srgbClr val="15382F"/>
                </a:solidFill>
                <a:latin typeface="Arial"/>
                <a:ea typeface="Arial"/>
                <a:cs typeface="Arial"/>
              </a:rPr>
              <a:t>Handle missing values defensively</a:t>
            </a:r>
            <a:endParaRPr sz="2100" b="1">
              <a:solidFill>
                <a:srgbClr val="15382F"/>
              </a:solidFill>
              <a:latin typeface="Arial"/>
              <a:ea typeface="Arial"/>
              <a:cs typeface="Arial"/>
            </a:endParaRPr>
          </a:p>
        </p:txBody>
      </p:sp>
      <p:sp>
        <p:nvSpPr>
          <p:cNvPr id="8" name="Assign hit labels and compute earli">
            <a:extLst xmlns:a="http://schemas.openxmlformats.org/drawingml/2006/main">
              <a:ext uri="{FF2B5EF4-FFF2-40B4-BE49-F238E27FC236}">
                <a16:creationId xmlns:a16="http://schemas.microsoft.com/office/drawing/2014/main" id="{8E9A246A-21E4-491A-9FB5-806A556BA886}"/>
              </a:ext>
            </a:extLst>
          </p:cNvPr>
          <p:cNvSpPr>
            <a:spLocks xmlns:a="http://schemas.openxmlformats.org/drawingml/2006/main" noGrp="1"/>
          </p:cNvSpPr>
          <p:nvPr/>
        </p:nvSpPr>
        <p:spPr>
          <a:xfrm xmlns:a="http://schemas.openxmlformats.org/drawingml/2006/main">
            <a:off x="1390650" y="3073400"/>
            <a:ext cx="9906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B7068"/>
                </a:solidFill>
                <a:latin typeface="Arial"/>
                <a:ea typeface="Arial"/>
                <a:cs typeface="Arial"/>
              </a:defRPr>
            </a:pPr>
            <a:r>
              <a:rPr b="0">
                <a:solidFill>
                  <a:srgbClr val="5B7068"/>
                </a:solidFill>
                <a:latin typeface="Arial"/>
                <a:ea typeface="Arial"/>
                <a:cs typeface="Arial"/>
              </a:rPr>
              <a:t>The current dataset has complete values in all four model inputs.</a:t>
            </a:r>
          </a:p>
          <a:p xmlns:a="http://schemas.openxmlformats.org/drawingml/2006/main">
            <a:pPr>
              <a:buNone/>
              <a:defRPr sz="1800" b="0">
                <a:solidFill>
                  <a:srgbClr val="5B7068"/>
                </a:solidFill>
                <a:latin typeface="Arial"/>
                <a:ea typeface="Arial"/>
                <a:cs typeface="Arial"/>
              </a:defRPr>
            </a:pPr>
            <a:r>
              <a:rPr b="0">
                <a:solidFill>
                  <a:srgbClr val="5B7068"/>
                </a:solidFill>
                <a:latin typeface="Arial"/>
                <a:ea typeface="Arial"/>
                <a:cs typeface="Arial"/>
              </a:rPr>
              <a:t>Keep median imputation for audio features as a reusable fallback.</a:t>
            </a:r>
            <a:endParaRPr b="0">
              <a:solidFill>
                <a:srgbClr val="5B7068"/>
              </a:solidFill>
              <a:latin typeface="Arial"/>
              <a:ea typeface="Arial"/>
              <a:cs typeface="Arial"/>
            </a:endParaRPr>
          </a:p>
        </p:txBody>
      </p:sp>
      <p:sp>
        <p:nvSpPr>
          <p:cNvPr id="9" name="03">
            <a:extLst xmlns:a="http://schemas.openxmlformats.org/drawingml/2006/main">
              <a:ext uri="{FF2B5EF4-FFF2-40B4-BE49-F238E27FC236}">
                <a16:creationId xmlns:a16="http://schemas.microsoft.com/office/drawing/2014/main" id="{1E4381B6-ADD7-410C-94F4-D0DCCBDDA7C4}"/>
              </a:ext>
            </a:extLst>
          </p:cNvPr>
          <p:cNvSpPr>
            <a:spLocks xmlns:a="http://schemas.openxmlformats.org/drawingml/2006/main" noGrp="1"/>
          </p:cNvSpPr>
          <p:nvPr/>
        </p:nvSpPr>
        <p:spPr>
          <a:xfrm xmlns:a="http://schemas.openxmlformats.org/drawingml/2006/main">
            <a:off x="628650" y="38608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087F70"/>
                </a:solidFill>
                <a:latin typeface="Arial"/>
                <a:ea typeface="Arial"/>
                <a:cs typeface="Arial"/>
              </a:defRPr>
            </a:pPr>
            <a:r>
              <a:rPr sz="2250" b="1">
                <a:solidFill>
                  <a:srgbClr val="087F70"/>
                </a:solidFill>
                <a:latin typeface="Arial"/>
                <a:ea typeface="Arial"/>
                <a:cs typeface="Arial"/>
              </a:rPr>
              <a:t>03</a:t>
            </a:r>
          </a:p>
        </p:txBody>
      </p:sp>
      <p:sp>
        <p:nvSpPr>
          <p:cNvPr id="10" name="Prepare training pipelines">
            <a:extLst xmlns:a="http://schemas.openxmlformats.org/drawingml/2006/main">
              <a:ext uri="{FF2B5EF4-FFF2-40B4-BE49-F238E27FC236}">
                <a16:creationId xmlns:a16="http://schemas.microsoft.com/office/drawing/2014/main" id="{BEF75AE3-47A1-4E25-9F26-DE4C9D8A9D07}"/>
              </a:ext>
            </a:extLst>
          </p:cNvPr>
          <p:cNvSpPr>
            <a:spLocks xmlns:a="http://schemas.openxmlformats.org/drawingml/2006/main" noGrp="1"/>
          </p:cNvSpPr>
          <p:nvPr/>
        </p:nvSpPr>
        <p:spPr>
          <a:xfrm xmlns:a="http://schemas.openxmlformats.org/drawingml/2006/main">
            <a:off x="1390650" y="3860800"/>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15382F"/>
                </a:solidFill>
                <a:latin typeface="Arial"/>
                <a:ea typeface="Arial"/>
                <a:cs typeface="Arial"/>
              </a:defRPr>
            </a:pPr>
            <a:r>
              <a:rPr sz="2100" b="1">
                <a:solidFill>
                  <a:srgbClr val="15382F"/>
                </a:solidFill>
                <a:latin typeface="Arial"/>
                <a:ea typeface="Arial"/>
                <a:cs typeface="Arial"/>
              </a:rPr>
              <a:t>Scale inputs according to the model</a:t>
            </a:r>
            <a:endParaRPr sz="2100" b="1">
              <a:solidFill>
                <a:srgbClr val="15382F"/>
              </a:solidFill>
              <a:latin typeface="Arial"/>
              <a:ea typeface="Arial"/>
              <a:cs typeface="Arial"/>
            </a:endParaRPr>
          </a:p>
        </p:txBody>
      </p:sp>
      <p:sp>
        <p:nvSpPr>
          <p:cNvPr id="11" name="Fit imputation and model-specific s">
            <a:extLst xmlns:a="http://schemas.openxmlformats.org/drawingml/2006/main">
              <a:ext uri="{FF2B5EF4-FFF2-40B4-BE49-F238E27FC236}">
                <a16:creationId xmlns:a16="http://schemas.microsoft.com/office/drawing/2014/main" id="{B95D5C44-D61D-4E83-A0DF-E45252C64220}"/>
              </a:ext>
            </a:extLst>
          </p:cNvPr>
          <p:cNvSpPr>
            <a:spLocks xmlns:a="http://schemas.openxmlformats.org/drawingml/2006/main" noGrp="1"/>
          </p:cNvSpPr>
          <p:nvPr/>
        </p:nvSpPr>
        <p:spPr>
          <a:xfrm xmlns:a="http://schemas.openxmlformats.org/drawingml/2006/main">
            <a:off x="1390650" y="4267200"/>
            <a:ext cx="9906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B7068"/>
                </a:solidFill>
                <a:latin typeface="Arial"/>
                <a:ea typeface="Arial"/>
                <a:cs typeface="Arial"/>
              </a:defRPr>
            </a:pPr>
            <a:r>
              <a:rPr b="0">
                <a:solidFill>
                  <a:srgbClr val="5B7068"/>
                </a:solidFill>
                <a:latin typeface="Arial"/>
                <a:ea typeface="Arial"/>
                <a:cs typeface="Arial"/>
              </a:rPr>
              <a:t>Standardize audio features for logistic regression, SVM and the MLP.</a:t>
            </a:r>
          </a:p>
          <a:p xmlns:a="http://schemas.openxmlformats.org/drawingml/2006/main">
            <a:pPr>
              <a:buNone/>
              <a:defRPr sz="1800" b="0">
                <a:solidFill>
                  <a:srgbClr val="5B7068"/>
                </a:solidFill>
                <a:latin typeface="Arial"/>
                <a:ea typeface="Arial"/>
                <a:cs typeface="Arial"/>
              </a:defRPr>
            </a:pPr>
            <a:r>
              <a:rPr b="0">
                <a:solidFill>
                  <a:srgbClr val="5B7068"/>
                </a:solidFill>
                <a:latin typeface="Arial"/>
                <a:ea typeface="Arial"/>
                <a:cs typeface="Arial"/>
              </a:rPr>
              <a:t>Keep Artist Score as 0 or 1. Decision trees and random forests skip scaling.</a:t>
            </a:r>
            <a:endParaRPr b="0">
              <a:solidFill>
                <a:srgbClr val="5B7068"/>
              </a:solidFill>
              <a:latin typeface="Arial"/>
              <a:ea typeface="Arial"/>
              <a:cs typeface="Arial"/>
            </a:endParaRPr>
          </a:p>
        </p:txBody>
      </p:sp>
      <p:sp>
        <p:nvSpPr>
          <p:cNvPr id="12" name="04">
            <a:extLst xmlns:a="http://schemas.openxmlformats.org/drawingml/2006/main">
              <a:ext uri="{FF2B5EF4-FFF2-40B4-BE49-F238E27FC236}">
                <a16:creationId xmlns:a16="http://schemas.microsoft.com/office/drawing/2014/main" id="{80BE7518-48EE-4069-874D-8783FF59FD28}"/>
              </a:ext>
            </a:extLst>
          </p:cNvPr>
          <p:cNvSpPr>
            <a:spLocks xmlns:a="http://schemas.openxmlformats.org/drawingml/2006/main" noGrp="1"/>
          </p:cNvSpPr>
          <p:nvPr/>
        </p:nvSpPr>
        <p:spPr>
          <a:xfrm xmlns:a="http://schemas.openxmlformats.org/drawingml/2006/main">
            <a:off x="628650" y="50546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087F70"/>
                </a:solidFill>
                <a:latin typeface="Arial"/>
                <a:ea typeface="Arial"/>
                <a:cs typeface="Arial"/>
              </a:defRPr>
            </a:pPr>
            <a:r>
              <a:rPr sz="2250" b="1">
                <a:solidFill>
                  <a:srgbClr val="087F70"/>
                </a:solidFill>
                <a:latin typeface="Arial"/>
                <a:ea typeface="Arial"/>
                <a:cs typeface="Arial"/>
              </a:rPr>
              <a:t>04</a:t>
            </a:r>
          </a:p>
        </p:txBody>
      </p:sp>
      <p:sp>
        <p:nvSpPr>
          <p:cNvPr id="13" name="Tune and preserve models">
            <a:extLst xmlns:a="http://schemas.openxmlformats.org/drawingml/2006/main">
              <a:ext uri="{FF2B5EF4-FFF2-40B4-BE49-F238E27FC236}">
                <a16:creationId xmlns:a16="http://schemas.microsoft.com/office/drawing/2014/main" id="{0E7AA8B9-990F-4C97-9064-6953F5BEAF9A}"/>
              </a:ext>
            </a:extLst>
          </p:cNvPr>
          <p:cNvSpPr>
            <a:spLocks xmlns:a="http://schemas.openxmlformats.org/drawingml/2006/main" noGrp="1"/>
          </p:cNvSpPr>
          <p:nvPr/>
        </p:nvSpPr>
        <p:spPr>
          <a:xfrm xmlns:a="http://schemas.openxmlformats.org/drawingml/2006/main">
            <a:off x="1390650" y="5054600"/>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15382F"/>
                </a:solidFill>
                <a:latin typeface="Arial"/>
                <a:ea typeface="Arial"/>
                <a:cs typeface="Arial"/>
              </a:defRPr>
            </a:pPr>
            <a:r>
              <a:rPr sz="2100" b="1">
                <a:solidFill>
                  <a:srgbClr val="15382F"/>
                </a:solidFill>
                <a:latin typeface="Arial"/>
                <a:ea typeface="Arial"/>
                <a:cs typeface="Arial"/>
              </a:rPr>
              <a:t>Fit each pipeline on training rows only</a:t>
            </a:r>
            <a:endParaRPr sz="2100" b="1">
              <a:solidFill>
                <a:srgbClr val="15382F"/>
              </a:solidFill>
              <a:latin typeface="Arial"/>
              <a:ea typeface="Arial"/>
              <a:cs typeface="Arial"/>
            </a:endParaRPr>
          </a:p>
        </p:txBody>
      </p:sp>
      <p:sp>
        <p:nvSpPr>
          <p:cNvPr id="14" name="Compare classifiers, evaluate predi">
            <a:extLst xmlns:a="http://schemas.openxmlformats.org/drawingml/2006/main">
              <a:ext uri="{FF2B5EF4-FFF2-40B4-BE49-F238E27FC236}">
                <a16:creationId xmlns:a16="http://schemas.microsoft.com/office/drawing/2014/main" id="{4A9894C5-40CB-48D9-B451-FDF05BE26C68}"/>
              </a:ext>
            </a:extLst>
          </p:cNvPr>
          <p:cNvSpPr>
            <a:spLocks xmlns:a="http://schemas.openxmlformats.org/drawingml/2006/main" noGrp="1"/>
          </p:cNvSpPr>
          <p:nvPr/>
        </p:nvSpPr>
        <p:spPr>
          <a:xfrm xmlns:a="http://schemas.openxmlformats.org/drawingml/2006/main">
            <a:off x="1390650" y="5461000"/>
            <a:ext cx="9906000" cy="69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B7068"/>
                </a:solidFill>
                <a:latin typeface="Arial"/>
                <a:ea typeface="Arial"/>
                <a:cs typeface="Arial"/>
              </a:defRPr>
            </a:pPr>
            <a:r>
              <a:rPr b="0">
                <a:solidFill>
                  <a:srgbClr val="5B7068"/>
                </a:solidFill>
                <a:latin typeface="Arial"/>
                <a:ea typeface="Arial"/>
                <a:cs typeface="Arial"/>
              </a:rPr>
              <a:t>Fit medians and scaling statistics inside each training fold.</a:t>
            </a:r>
          </a:p>
          <a:p xmlns:a="http://schemas.openxmlformats.org/drawingml/2006/main">
            <a:pPr>
              <a:buNone/>
              <a:defRPr sz="1800" b="0">
                <a:solidFill>
                  <a:srgbClr val="5B7068"/>
                </a:solidFill>
                <a:latin typeface="Arial"/>
                <a:ea typeface="Arial"/>
                <a:cs typeface="Arial"/>
              </a:defRPr>
            </a:pPr>
            <a:r>
              <a:rPr b="0">
                <a:solidFill>
                  <a:srgbClr val="5B7068"/>
                </a:solidFill>
                <a:latin typeface="Arial"/>
                <a:ea typeface="Arial"/>
                <a:cs typeface="Arial"/>
              </a:rPr>
              <a:t>Transform validation and test songs using those fitted values to avoid leakage.</a:t>
            </a:r>
            <a:endParaRPr b="0">
              <a:solidFill>
                <a:srgbClr val="5B7068"/>
              </a:solidFill>
              <a:latin typeface="Arial"/>
              <a:ea typeface="Arial"/>
              <a:cs typeface="Arial"/>
            </a:endParaRPr>
          </a:p>
        </p:txBody>
      </p:sp>
    </p:spTree>
    <p:extLst>
      <p:ext uri="{BB962C8B-B14F-4D97-AF65-F5344CB8AC3E}">
        <p14:creationId xmlns:p14="http://schemas.microsoft.com/office/powerpoint/2010/main" val="447108552"/>
      </p:ext>
    </p:extLst>
  </p:cSld>
</p:sld>
</file>

<file path=ppt/slides/slide6.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10" name="Evaluation separates artist groups">
            <a:extLst xmlns:a="http://schemas.openxmlformats.org/drawingml/2006/main">
              <a:ext uri="{FF2B5EF4-FFF2-40B4-BE49-F238E27FC236}">
                <a16:creationId xmlns:a16="http://schemas.microsoft.com/office/drawing/2014/main" id="{CAF74858-548F-4BA5-87B7-5D0BFF9229C3}"/>
              </a:ext>
            </a:extLst>
          </p:cNvPr>
          <p:cNvSpPr>
            <a:spLocks xmlns:a="http://schemas.openxmlformats.org/drawingml/2006/main" noGrp="1"/>
          </p:cNvSpPr>
          <p:nvPr/>
        </p:nvSpPr>
        <p:spPr>
          <a:xfrm xmlns:a="http://schemas.openxmlformats.org/drawingml/2006/main">
            <a:off x="609600" y="45720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15382F"/>
                </a:solidFill>
                <a:latin typeface="Arial"/>
                <a:ea typeface="Arial"/>
                <a:cs typeface="Arial"/>
              </a:defRPr>
            </a:pPr>
            <a:r>
              <a:rPr sz="3300" b="1">
                <a:solidFill>
                  <a:srgbClr val="15382F"/>
                </a:solidFill>
                <a:latin typeface="Arial"/>
                <a:ea typeface="Arial"/>
                <a:cs typeface="Arial"/>
              </a:rPr>
              <a:t>Evaluation separates artist groups</a:t>
            </a:r>
          </a:p>
        </p:txBody>
      </p:sp>
      <p:sp>
        <p:nvSpPr>
          <p:cNvPr id="2" name="05">
            <a:extLst xmlns:a="http://schemas.openxmlformats.org/drawingml/2006/main">
              <a:ext uri="{FF2B5EF4-FFF2-40B4-BE49-F238E27FC236}">
                <a16:creationId xmlns:a16="http://schemas.microsoft.com/office/drawing/2014/main" id="{AA2F24BB-F41D-4F9B-9EAB-7C72A863A27A}"/>
              </a:ext>
            </a:extLst>
          </p:cNvPr>
          <p:cNvSpPr>
            <a:spLocks xmlns:a="http://schemas.openxmlformats.org/drawingml/2006/main" noGrp="1"/>
          </p:cNvSpPr>
          <p:nvPr/>
        </p:nvSpPr>
        <p:spPr>
          <a:xfrm xmlns:a="http://schemas.openxmlformats.org/drawingml/2006/main">
            <a:off x="11239500" y="62674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b="0">
                <a:solidFill>
                  <a:srgbClr val="5B7068"/>
                </a:solidFill>
                <a:latin typeface="Arial"/>
                <a:ea typeface="Arial"/>
                <a:cs typeface="Arial"/>
              </a:defRPr>
            </a:pPr>
            <a:r>
              <a:rPr sz="1350" b="0">
                <a:solidFill>
                  <a:srgbClr val="5B7068"/>
                </a:solidFill>
                <a:latin typeface="Arial"/>
                <a:ea typeface="Arial"/>
                <a:cs typeface="Arial"/>
              </a:rPr>
              <a:t>06</a:t>
            </a:r>
            <a:endParaRPr sz="1350" b="0">
              <a:solidFill>
                <a:srgbClr val="5B7068"/>
              </a:solidFill>
              <a:latin typeface="Arial"/>
              <a:ea typeface="Arial"/>
              <a:cs typeface="Arial"/>
            </a:endParaRPr>
          </a:p>
        </p:txBody>
      </p:sp>
      <p:sp>
        <p:nvSpPr>
          <p:cNvPr id="3" name="3,024">
            <a:extLst xmlns:a="http://schemas.openxmlformats.org/drawingml/2006/main">
              <a:ext uri="{FF2B5EF4-FFF2-40B4-BE49-F238E27FC236}">
                <a16:creationId xmlns:a16="http://schemas.microsoft.com/office/drawing/2014/main" id="{D230CB12-AEDF-4F0E-AF9B-DD46CF0201B4}"/>
              </a:ext>
            </a:extLst>
          </p:cNvPr>
          <p:cNvSpPr>
            <a:spLocks xmlns:a="http://schemas.openxmlformats.org/drawingml/2006/main" noGrp="1"/>
          </p:cNvSpPr>
          <p:nvPr/>
        </p:nvSpPr>
        <p:spPr>
          <a:xfrm xmlns:a="http://schemas.openxmlformats.org/drawingml/2006/main">
            <a:off x="609600" y="1743075"/>
            <a:ext cx="4905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6150" b="1">
                <a:solidFill>
                  <a:srgbClr val="087F70"/>
                </a:solidFill>
                <a:latin typeface="Arial"/>
                <a:ea typeface="Arial"/>
                <a:cs typeface="Arial"/>
              </a:defRPr>
            </a:pPr>
            <a:r>
              <a:rPr sz="6150" b="1">
                <a:solidFill>
                  <a:srgbClr val="087F70"/>
                </a:solidFill>
                <a:latin typeface="Arial"/>
                <a:ea typeface="Arial"/>
                <a:cs typeface="Arial"/>
              </a:rPr>
              <a:t>3,024</a:t>
            </a:r>
          </a:p>
        </p:txBody>
      </p:sp>
      <p:sp>
        <p:nvSpPr>
          <p:cNvPr id="4" name="training songs">
            <a:extLst xmlns:a="http://schemas.openxmlformats.org/drawingml/2006/main">
              <a:ext uri="{FF2B5EF4-FFF2-40B4-BE49-F238E27FC236}">
                <a16:creationId xmlns:a16="http://schemas.microsoft.com/office/drawing/2014/main" id="{E82AC356-7ABB-4B4B-A99D-C89FBFB41ADF}"/>
              </a:ext>
            </a:extLst>
          </p:cNvPr>
          <p:cNvSpPr>
            <a:spLocks xmlns:a="http://schemas.openxmlformats.org/drawingml/2006/main" noGrp="1"/>
          </p:cNvSpPr>
          <p:nvPr/>
        </p:nvSpPr>
        <p:spPr>
          <a:xfrm xmlns:a="http://schemas.openxmlformats.org/drawingml/2006/main">
            <a:off x="647700" y="2752725"/>
            <a:ext cx="4857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15382F"/>
                </a:solidFill>
                <a:latin typeface="Arial"/>
                <a:ea typeface="Arial"/>
                <a:cs typeface="Arial"/>
              </a:defRPr>
            </a:pPr>
            <a:r>
              <a:rPr sz="2250" b="0">
                <a:solidFill>
                  <a:srgbClr val="15382F"/>
                </a:solidFill>
                <a:latin typeface="Arial"/>
                <a:ea typeface="Arial"/>
                <a:cs typeface="Arial"/>
              </a:rPr>
              <a:t>training songs</a:t>
            </a:r>
          </a:p>
        </p:txBody>
      </p:sp>
      <p:sp>
        <p:nvSpPr>
          <p:cNvPr id="5" name="976">
            <a:extLst xmlns:a="http://schemas.openxmlformats.org/drawingml/2006/main">
              <a:ext uri="{FF2B5EF4-FFF2-40B4-BE49-F238E27FC236}">
                <a16:creationId xmlns:a16="http://schemas.microsoft.com/office/drawing/2014/main" id="{0B24B39E-C362-4CFF-AE5F-76E4A40DAAC0}"/>
              </a:ext>
            </a:extLst>
          </p:cNvPr>
          <p:cNvSpPr>
            <a:spLocks xmlns:a="http://schemas.openxmlformats.org/drawingml/2006/main" noGrp="1"/>
          </p:cNvSpPr>
          <p:nvPr/>
        </p:nvSpPr>
        <p:spPr>
          <a:xfrm xmlns:a="http://schemas.openxmlformats.org/drawingml/2006/main">
            <a:off x="6724650" y="1743075"/>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6150" b="1">
                <a:solidFill>
                  <a:srgbClr val="087F70"/>
                </a:solidFill>
                <a:latin typeface="Arial"/>
                <a:ea typeface="Arial"/>
                <a:cs typeface="Arial"/>
              </a:defRPr>
            </a:pPr>
            <a:r>
              <a:rPr sz="6150" b="1">
                <a:solidFill>
                  <a:srgbClr val="087F70"/>
                </a:solidFill>
                <a:latin typeface="Arial"/>
                <a:ea typeface="Arial"/>
                <a:cs typeface="Arial"/>
              </a:rPr>
              <a:t>976</a:t>
            </a:r>
          </a:p>
        </p:txBody>
      </p:sp>
      <p:sp>
        <p:nvSpPr>
          <p:cNvPr id="6" name="held-out test songs">
            <a:extLst xmlns:a="http://schemas.openxmlformats.org/drawingml/2006/main">
              <a:ext uri="{FF2B5EF4-FFF2-40B4-BE49-F238E27FC236}">
                <a16:creationId xmlns:a16="http://schemas.microsoft.com/office/drawing/2014/main" id="{CFFF430E-D990-489A-810D-4FD93542C0E6}"/>
              </a:ext>
            </a:extLst>
          </p:cNvPr>
          <p:cNvSpPr>
            <a:spLocks xmlns:a="http://schemas.openxmlformats.org/drawingml/2006/main" noGrp="1"/>
          </p:cNvSpPr>
          <p:nvPr/>
        </p:nvSpPr>
        <p:spPr>
          <a:xfrm xmlns:a="http://schemas.openxmlformats.org/drawingml/2006/main">
            <a:off x="6762750" y="275272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15382F"/>
                </a:solidFill>
                <a:latin typeface="Arial"/>
                <a:ea typeface="Arial"/>
                <a:cs typeface="Arial"/>
              </a:defRPr>
            </a:pPr>
            <a:r>
              <a:rPr sz="2250" b="0">
                <a:solidFill>
                  <a:srgbClr val="15382F"/>
                </a:solidFill>
                <a:latin typeface="Arial"/>
                <a:ea typeface="Arial"/>
                <a:cs typeface="Arial"/>
              </a:rPr>
              <a:t>held-out test songs</a:t>
            </a:r>
          </a:p>
        </p:txBody>
      </p:sp>
      <p:sp>
        <p:nvSpPr>
          <p:cNvPr id="7" name="Zero shared normalized artist keys ">
            <a:extLst xmlns:a="http://schemas.openxmlformats.org/drawingml/2006/main">
              <a:ext uri="{FF2B5EF4-FFF2-40B4-BE49-F238E27FC236}">
                <a16:creationId xmlns:a16="http://schemas.microsoft.com/office/drawing/2014/main" id="{5E891A5E-1A61-4F49-90C1-E3753D59A3F4}"/>
              </a:ext>
            </a:extLst>
          </p:cNvPr>
          <p:cNvSpPr>
            <a:spLocks xmlns:a="http://schemas.openxmlformats.org/drawingml/2006/main" noGrp="1"/>
          </p:cNvSpPr>
          <p:nvPr/>
        </p:nvSpPr>
        <p:spPr>
          <a:xfrm xmlns:a="http://schemas.openxmlformats.org/drawingml/2006/main">
            <a:off x="647700" y="356235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15382F"/>
                </a:solidFill>
                <a:latin typeface="Arial"/>
                <a:ea typeface="Arial"/>
                <a:cs typeface="Arial"/>
              </a:defRPr>
            </a:pPr>
            <a:r>
              <a:rPr sz="2250" b="1">
                <a:solidFill>
                  <a:srgbClr val="15382F"/>
                </a:solidFill>
                <a:latin typeface="Arial"/>
                <a:ea typeface="Arial"/>
                <a:cs typeface="Arial"/>
              </a:rPr>
              <a:t>Zero shared normalized artist keys between training and test</a:t>
            </a:r>
          </a:p>
        </p:txBody>
      </p:sp>
      <p:sp>
        <p:nvSpPr>
          <p:cNvPr id="8" name="Five outer folds estimate validatio">
            <a:extLst xmlns:a="http://schemas.openxmlformats.org/drawingml/2006/main">
              <a:ext uri="{FF2B5EF4-FFF2-40B4-BE49-F238E27FC236}">
                <a16:creationId xmlns:a16="http://schemas.microsoft.com/office/drawing/2014/main" id="{D8ACED50-E00D-488A-8BB3-E771133D834D}"/>
              </a:ext>
            </a:extLst>
          </p:cNvPr>
          <p:cNvSpPr>
            <a:spLocks xmlns:a="http://schemas.openxmlformats.org/drawingml/2006/main" noGrp="1"/>
          </p:cNvSpPr>
          <p:nvPr/>
        </p:nvSpPr>
        <p:spPr>
          <a:xfrm xmlns:a="http://schemas.openxmlformats.org/drawingml/2006/main">
            <a:off x="647700" y="4410075"/>
            <a:ext cx="1047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5B7068"/>
                </a:solidFill>
                <a:latin typeface="Arial"/>
                <a:ea typeface="Arial"/>
                <a:cs typeface="Arial"/>
              </a:defRPr>
            </a:pPr>
            <a:r>
              <a:rPr sz="2175" b="0">
                <a:solidFill>
                  <a:srgbClr val="5B7068"/>
                </a:solidFill>
                <a:latin typeface="Arial"/>
                <a:ea typeface="Arial"/>
                <a:cs typeface="Arial"/>
              </a:rPr>
              <a:t>Five outer folds estimate validation performance</a:t>
            </a:r>
          </a:p>
          <a:p xmlns:a="http://schemas.openxmlformats.org/drawingml/2006/main">
            <a:pPr>
              <a:buNone/>
              <a:defRPr sz="2175" b="0">
                <a:solidFill>
                  <a:srgbClr val="5B7068"/>
                </a:solidFill>
                <a:latin typeface="Arial"/>
                <a:ea typeface="Arial"/>
                <a:cs typeface="Arial"/>
              </a:defRPr>
            </a:pPr>
            <a:r>
              <a:rPr sz="2175" b="0">
                <a:solidFill>
                  <a:srgbClr val="5B7068"/>
                </a:solidFill>
                <a:latin typeface="Arial"/>
                <a:ea typeface="Arial"/>
                <a:cs typeface="Arial"/>
              </a:rPr>
              <a:t>Five inner folds select model settings</a:t>
            </a:r>
          </a:p>
        </p:txBody>
      </p:sp>
      <p:sp>
        <p:nvSpPr>
          <p:cNvPr id="9" name="Later development uses only the 3,0">
            <a:extLst xmlns:a="http://schemas.openxmlformats.org/drawingml/2006/main">
              <a:ext uri="{FF2B5EF4-FFF2-40B4-BE49-F238E27FC236}">
                <a16:creationId xmlns:a16="http://schemas.microsoft.com/office/drawing/2014/main" id="{08B429BC-03A7-4C45-A0FE-00A25D7F3AF7}"/>
              </a:ext>
            </a:extLst>
          </p:cNvPr>
          <p:cNvSpPr>
            <a:spLocks xmlns:a="http://schemas.openxmlformats.org/drawingml/2006/main" noGrp="1"/>
          </p:cNvSpPr>
          <p:nvPr/>
        </p:nvSpPr>
        <p:spPr>
          <a:xfrm xmlns:a="http://schemas.openxmlformats.org/drawingml/2006/main">
            <a:off x="647700" y="564832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087F70"/>
                </a:solidFill>
                <a:latin typeface="Arial"/>
                <a:ea typeface="Arial"/>
                <a:cs typeface="Arial"/>
              </a:defRPr>
            </a:pPr>
            <a:r>
              <a:rPr sz="1875" b="0">
                <a:solidFill>
                  <a:srgbClr val="087F70"/>
                </a:solidFill>
                <a:latin typeface="Arial"/>
                <a:ea typeface="Arial"/>
                <a:cs typeface="Arial"/>
              </a:rPr>
              <a:t>Preprocessing and parameter tuning use training rows only</a:t>
            </a:r>
            <a:endParaRPr sz="1875" b="0">
              <a:solidFill>
                <a:srgbClr val="087F70"/>
              </a:solidFill>
              <a:latin typeface="Arial"/>
              <a:ea typeface="Arial"/>
              <a:cs typeface="Arial"/>
            </a:endParaRPr>
          </a:p>
        </p:txBody>
      </p:sp>
    </p:spTree>
    <p:extLst>
      <p:ext uri="{BB962C8B-B14F-4D97-AF65-F5344CB8AC3E}">
        <p14:creationId xmlns:p14="http://schemas.microsoft.com/office/powerpoint/2010/main" val="1626478149"/>
      </p:ext>
    </p:extLst>
  </p:cSld>
</p:sld>
</file>

<file path=ppt/slides/slide7.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8" name="Original held-out model results">
            <a:extLst xmlns:a="http://schemas.openxmlformats.org/drawingml/2006/main">
              <a:ext uri="{FF2B5EF4-FFF2-40B4-BE49-F238E27FC236}">
                <a16:creationId xmlns:a16="http://schemas.microsoft.com/office/drawing/2014/main" id="{1FEA029B-175F-484D-8F8F-DD8916FB6EB8}"/>
              </a:ext>
            </a:extLst>
          </p:cNvPr>
          <p:cNvSpPr>
            <a:spLocks xmlns:a="http://schemas.openxmlformats.org/drawingml/2006/main" noGrp="1"/>
          </p:cNvSpPr>
          <p:nvPr/>
        </p:nvSpPr>
        <p:spPr>
          <a:xfrm xmlns:a="http://schemas.openxmlformats.org/drawingml/2006/main">
            <a:off x="609600" y="45720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15382F"/>
                </a:solidFill>
                <a:latin typeface="Arial"/>
                <a:ea typeface="Arial"/>
                <a:cs typeface="Arial"/>
              </a:defRPr>
            </a:pPr>
            <a:r>
              <a:rPr sz="3300" b="1">
                <a:solidFill>
                  <a:srgbClr val="15382F"/>
                </a:solidFill>
                <a:latin typeface="Arial"/>
                <a:ea typeface="Arial"/>
                <a:cs typeface="Arial"/>
              </a:rPr>
              <a:t>Held-out model results</a:t>
            </a:r>
            <a:endParaRPr sz="3300" b="1">
              <a:solidFill>
                <a:srgbClr val="15382F"/>
              </a:solidFill>
              <a:latin typeface="Arial"/>
              <a:ea typeface="Arial"/>
              <a:cs typeface="Arial"/>
            </a:endParaRPr>
          </a:p>
        </p:txBody>
      </p:sp>
      <p:sp>
        <p:nvSpPr>
          <p:cNvPr id="2" name="06">
            <a:extLst xmlns:a="http://schemas.openxmlformats.org/drawingml/2006/main">
              <a:ext uri="{FF2B5EF4-FFF2-40B4-BE49-F238E27FC236}">
                <a16:creationId xmlns:a16="http://schemas.microsoft.com/office/drawing/2014/main" id="{0A55B9FD-37B1-489B-85CA-C5DF3615A72B}"/>
              </a:ext>
            </a:extLst>
          </p:cNvPr>
          <p:cNvSpPr>
            <a:spLocks xmlns:a="http://schemas.openxmlformats.org/drawingml/2006/main" noGrp="1"/>
          </p:cNvSpPr>
          <p:nvPr/>
        </p:nvSpPr>
        <p:spPr>
          <a:xfrm xmlns:a="http://schemas.openxmlformats.org/drawingml/2006/main">
            <a:off x="11239500" y="62674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b="0">
                <a:solidFill>
                  <a:srgbClr val="5B7068"/>
                </a:solidFill>
                <a:latin typeface="Arial"/>
                <a:ea typeface="Arial"/>
                <a:cs typeface="Arial"/>
              </a:defRPr>
            </a:pPr>
            <a:r>
              <a:rPr sz="1350" b="0">
                <a:solidFill>
                  <a:srgbClr val="5B7068"/>
                </a:solidFill>
                <a:latin typeface="Arial"/>
                <a:ea typeface="Arial"/>
                <a:cs typeface="Arial"/>
              </a:rPr>
              <a:t>07</a:t>
            </a:r>
            <a:endParaRPr sz="1350" b="0">
              <a:solidFill>
                <a:srgbClr val="5B7068"/>
              </a:solidFill>
              <a:latin typeface="Arial"/>
              <a:ea typeface="Arial"/>
              <a:cs typeface="Arial"/>
            </a:endParaRPr>
          </a:p>
        </p:txBody>
      </p:sp>
      <p:graphicFrame>
        <p:nvGraphicFramePr>
          <p:cNvPr id="12" name="Chart"/>
          <p:cNvGraphicFramePr/>
          <p:nvPr/>
        </p:nvGraphicFramePr>
        <p:xfrm>
          <a:off xmlns:a="http://schemas.openxmlformats.org/drawingml/2006/main" x="609600" y="1495425"/>
          <a:ext xmlns:a="http://schemas.openxmlformats.org/drawingml/2006/main" cx="8096250" cy="3905250"/>
        </p:xfrm>
        <a:graphic xmlns:a="http://schemas.openxmlformats.org/drawingml/2006/main">
          <a:graphicData uri="http://schemas.openxmlformats.org/drawingml/2006/chart">
            <c:chart xmlns:r="http://schemas.openxmlformats.org/officeDocument/2006/relationships" xmlns:c="http://schemas.openxmlformats.org/drawingml/2006/chart" r:id="Rb63011708f0d4ce4"/>
          </a:graphicData>
        </a:graphic>
      </p:graphicFrame>
      <p:sp>
        <p:nvSpPr>
          <p:cNvPr id="4" name="79.20%">
            <a:extLst xmlns:a="http://schemas.openxmlformats.org/drawingml/2006/main">
              <a:ext uri="{FF2B5EF4-FFF2-40B4-BE49-F238E27FC236}">
                <a16:creationId xmlns:a16="http://schemas.microsoft.com/office/drawing/2014/main" id="{20660A0B-C516-416A-85FC-F73B8F7658CE}"/>
              </a:ext>
            </a:extLst>
          </p:cNvPr>
          <p:cNvSpPr>
            <a:spLocks xmlns:a="http://schemas.openxmlformats.org/drawingml/2006/main" noGrp="1"/>
          </p:cNvSpPr>
          <p:nvPr/>
        </p:nvSpPr>
        <p:spPr>
          <a:xfrm xmlns:a="http://schemas.openxmlformats.org/drawingml/2006/main">
            <a:off x="9220200" y="1876425"/>
            <a:ext cx="2476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275" b="1">
                <a:solidFill>
                  <a:srgbClr val="15382F"/>
                </a:solidFill>
                <a:latin typeface="Arial"/>
                <a:ea typeface="Arial"/>
                <a:cs typeface="Arial"/>
              </a:defRPr>
            </a:pPr>
            <a:r>
              <a:rPr sz="4275" b="1">
                <a:solidFill>
                  <a:srgbClr val="15382F"/>
                </a:solidFill>
                <a:latin typeface="Arial"/>
                <a:ea typeface="Arial"/>
                <a:cs typeface="Arial"/>
              </a:rPr>
              <a:t>82.48%</a:t>
            </a:r>
          </a:p>
        </p:txBody>
      </p:sp>
      <p:sp>
        <p:nvSpPr>
          <p:cNvPr id="5" name="Selected decision tree">
            <a:extLst xmlns:a="http://schemas.openxmlformats.org/drawingml/2006/main">
              <a:ext uri="{FF2B5EF4-FFF2-40B4-BE49-F238E27FC236}">
                <a16:creationId xmlns:a16="http://schemas.microsoft.com/office/drawing/2014/main" id="{5D46ADD2-AE22-4986-BC3B-E1E85CA08A45}"/>
              </a:ext>
            </a:extLst>
          </p:cNvPr>
          <p:cNvSpPr>
            <a:spLocks xmlns:a="http://schemas.openxmlformats.org/drawingml/2006/main" noGrp="1"/>
          </p:cNvSpPr>
          <p:nvPr/>
        </p:nvSpPr>
        <p:spPr>
          <a:xfrm xmlns:a="http://schemas.openxmlformats.org/drawingml/2006/main">
            <a:off x="9220200" y="2857500"/>
            <a:ext cx="2476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5382F"/>
                </a:solidFill>
                <a:latin typeface="Arial"/>
                <a:ea typeface="Arial"/>
                <a:cs typeface="Arial"/>
              </a:defRPr>
            </a:pPr>
            <a:r>
              <a:rPr sz="2100" b="0">
                <a:solidFill>
                  <a:srgbClr val="15382F"/>
                </a:solidFill>
                <a:latin typeface="Arial"/>
                <a:ea typeface="Arial"/>
                <a:cs typeface="Arial"/>
              </a:rPr>
              <a:t>Selected random forest</a:t>
            </a:r>
          </a:p>
        </p:txBody>
      </p:sp>
      <p:sp>
        <p:nvSpPr>
          <p:cNvPr id="6" name="81.72% precision&#10;74.79% recall">
            <a:extLst xmlns:a="http://schemas.openxmlformats.org/drawingml/2006/main">
              <a:ext uri="{FF2B5EF4-FFF2-40B4-BE49-F238E27FC236}">
                <a16:creationId xmlns:a16="http://schemas.microsoft.com/office/drawing/2014/main" id="{0174DE07-0ED8-4BAF-8DC4-BE7B502E6FE4}"/>
              </a:ext>
            </a:extLst>
          </p:cNvPr>
          <p:cNvSpPr>
            <a:spLocks xmlns:a="http://schemas.openxmlformats.org/drawingml/2006/main" noGrp="1"/>
          </p:cNvSpPr>
          <p:nvPr/>
        </p:nvSpPr>
        <p:spPr>
          <a:xfrm xmlns:a="http://schemas.openxmlformats.org/drawingml/2006/main">
            <a:off x="9220200" y="4000500"/>
            <a:ext cx="2476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b="0">
                <a:solidFill>
                  <a:srgbClr val="5B7068"/>
                </a:solidFill>
                <a:latin typeface="Arial"/>
                <a:ea typeface="Arial"/>
                <a:cs typeface="Arial"/>
              </a:defRPr>
            </a:pPr>
            <a:r>
              <a:rPr sz="1950" b="0">
                <a:solidFill>
                  <a:srgbClr val="5B7068"/>
                </a:solidFill>
                <a:latin typeface="Arial"/>
                <a:ea typeface="Arial"/>
                <a:cs typeface="Arial"/>
              </a:rPr>
              <a:t>92.64% precision</a:t>
            </a:r>
          </a:p>
          <a:p xmlns:a="http://schemas.openxmlformats.org/drawingml/2006/main">
            <a:pPr>
              <a:buNone/>
              <a:defRPr sz="1950" b="0">
                <a:solidFill>
                  <a:srgbClr val="5B7068"/>
                </a:solidFill>
                <a:latin typeface="Arial"/>
                <a:ea typeface="Arial"/>
                <a:cs typeface="Arial"/>
              </a:defRPr>
            </a:pPr>
            <a:r>
              <a:rPr sz="1950" b="0">
                <a:solidFill>
                  <a:srgbClr val="5B7068"/>
                </a:solidFill>
                <a:latin typeface="Arial"/>
                <a:ea typeface="Arial"/>
                <a:cs typeface="Arial"/>
              </a:rPr>
              <a:t>70.25% recall</a:t>
            </a:r>
          </a:p>
          <a:p xmlns:a="http://schemas.openxmlformats.org/drawingml/2006/main">
            <a:pPr>
              <a:buNone/>
              <a:defRPr sz="1950" b="0">
                <a:solidFill>
                  <a:srgbClr val="5B7068"/>
                </a:solidFill>
                <a:latin typeface="Arial"/>
                <a:ea typeface="Arial"/>
                <a:cs typeface="Arial"/>
              </a:defRPr>
            </a:pPr>
            <a:r>
              <a:rPr sz="1950" b="0">
                <a:solidFill>
                  <a:srgbClr val="5B7068"/>
                </a:solidFill>
                <a:latin typeface="Arial"/>
                <a:ea typeface="Arial"/>
                <a:cs typeface="Arial"/>
              </a:rPr>
              <a:t>ROC-AUC 0.8767</a:t>
            </a:r>
          </a:p>
        </p:txBody>
      </p:sp>
      <p:sp>
        <p:nvSpPr>
          <p:cNvPr id="7" name="All scores use 976 held-out songs a">
            <a:extLst xmlns:a="http://schemas.openxmlformats.org/drawingml/2006/main">
              <a:ext uri="{FF2B5EF4-FFF2-40B4-BE49-F238E27FC236}">
                <a16:creationId xmlns:a16="http://schemas.microsoft.com/office/drawing/2014/main" id="{30D25F54-532E-4F64-9B7C-45EF60327359}"/>
              </a:ext>
            </a:extLst>
          </p:cNvPr>
          <p:cNvSpPr>
            <a:spLocks xmlns:a="http://schemas.openxmlformats.org/drawingml/2006/main" noGrp="1"/>
          </p:cNvSpPr>
          <p:nvPr/>
        </p:nvSpPr>
        <p:spPr>
          <a:xfrm xmlns:a="http://schemas.openxmlformats.org/drawingml/2006/main">
            <a:off x="647700" y="5572125"/>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B7068"/>
                </a:solidFill>
                <a:latin typeface="Arial"/>
                <a:ea typeface="Arial"/>
                <a:cs typeface="Arial"/>
              </a:defRPr>
            </a:pPr>
            <a:r>
              <a:rPr sz="1800" b="0">
                <a:solidFill>
                  <a:srgbClr val="5B7068"/>
                </a:solidFill>
                <a:latin typeface="Arial"/>
                <a:ea typeface="Arial"/>
                <a:cs typeface="Arial"/>
              </a:rPr>
              <a:t>Recorded comparison on 976 held-out songs</a:t>
            </a:r>
            <a:endParaRPr sz="1875" b="0">
              <a:solidFill>
                <a:srgbClr val="5B7068"/>
              </a:solidFill>
              <a:latin typeface="Arial"/>
              <a:ea typeface="Arial"/>
              <a:cs typeface="Arial"/>
            </a:endParaRPr>
          </a:p>
          <a:p xmlns:a="http://schemas.openxmlformats.org/drawingml/2006/main">
            <a:pPr>
              <a:buNone/>
              <a:defRPr sz="1800" b="0">
                <a:solidFill>
                  <a:srgbClr val="5B7068"/>
                </a:solidFill>
                <a:latin typeface="Arial"/>
                <a:ea typeface="Arial"/>
                <a:cs typeface="Arial"/>
              </a:defRPr>
            </a:pPr>
            <a:r>
              <a:rPr sz="1800" b="0">
                <a:solidFill>
                  <a:srgbClr val="5B7068"/>
                </a:solidFill>
                <a:latin typeface="Arial"/>
                <a:ea typeface="Arial"/>
                <a:cs typeface="Arial"/>
              </a:rPr>
              <a:t>Random forest chosen for deployment after reviewing these results</a:t>
            </a:r>
            <a:endParaRPr sz="1875" b="0">
              <a:solidFill>
                <a:srgbClr val="5B7068"/>
              </a:solidFill>
              <a:latin typeface="Arial"/>
              <a:ea typeface="Arial"/>
              <a:cs typeface="Arial"/>
            </a:endParaRPr>
          </a:p>
        </p:txBody>
      </p:sp>
    </p:spTree>
    <p:extLst>
      <p:ext uri="{BB962C8B-B14F-4D97-AF65-F5344CB8AC3E}">
        <p14:creationId xmlns:p14="http://schemas.microsoft.com/office/powerpoint/2010/main" val="1847833955"/>
      </p:ext>
    </p:extLst>
  </p:cSld>
</p:sld>
</file>

<file path=ppt/slides/slide8.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11" name="ROC-AUC and model discrimination">
            <a:extLst xmlns:a="http://schemas.openxmlformats.org/drawingml/2006/main">
              <a:ext uri="{FF2B5EF4-FFF2-40B4-BE49-F238E27FC236}">
                <a16:creationId xmlns:a16="http://schemas.microsoft.com/office/drawing/2014/main" id="{CF18B86A-223D-4445-8927-06BD72BF0CF2}"/>
              </a:ext>
            </a:extLst>
          </p:cNvPr>
          <p:cNvSpPr>
            <a:spLocks xmlns:a="http://schemas.openxmlformats.org/drawingml/2006/main" noGrp="1"/>
          </p:cNvSpPr>
          <p:nvPr/>
        </p:nvSpPr>
        <p:spPr>
          <a:xfrm xmlns:a="http://schemas.openxmlformats.org/drawingml/2006/main">
            <a:off x="609600" y="45720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5382F"/>
                </a:solidFill>
                <a:latin typeface="Arial"/>
                <a:ea typeface="Arial"/>
                <a:cs typeface="Arial"/>
              </a:defRPr>
            </a:pPr>
            <a:r>
              <a:rPr sz="3300" b="1">
                <a:solidFill>
                  <a:srgbClr val="15382F"/>
                </a:solidFill>
                <a:latin typeface="Arial"/>
                <a:ea typeface="Arial"/>
                <a:cs typeface="Arial"/>
              </a:rPr>
              <a:t>ROC-AUC and model discrimination</a:t>
            </a:r>
          </a:p>
        </p:txBody>
      </p:sp>
      <p:sp>
        <p:nvSpPr>
          <p:cNvPr id="2" name="How well scores rank hits above non-hits">
            <a:extLst xmlns:a="http://schemas.openxmlformats.org/drawingml/2006/main">
              <a:ext uri="{FF2B5EF4-FFF2-40B4-BE49-F238E27FC236}">
                <a16:creationId xmlns:a16="http://schemas.microsoft.com/office/drawing/2014/main" id="{7AA0B78C-FBFB-4C63-8DC9-6C074D9A80B6}"/>
              </a:ext>
            </a:extLst>
          </p:cNvPr>
          <p:cNvSpPr>
            <a:spLocks xmlns:a="http://schemas.openxmlformats.org/drawingml/2006/main" noGrp="1"/>
          </p:cNvSpPr>
          <p:nvPr/>
        </p:nvSpPr>
        <p:spPr>
          <a:xfrm xmlns:a="http://schemas.openxmlformats.org/drawingml/2006/main">
            <a:off x="609600" y="1409700"/>
            <a:ext cx="1093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B7068"/>
                </a:solidFill>
                <a:latin typeface="Arial"/>
                <a:ea typeface="Arial"/>
                <a:cs typeface="Arial"/>
              </a:defRPr>
            </a:pPr>
            <a:r>
              <a:rPr sz="1950" b="0">
                <a:solidFill>
                  <a:srgbClr val="5B7068"/>
                </a:solidFill>
                <a:latin typeface="Arial"/>
                <a:ea typeface="Arial"/>
                <a:cs typeface="Arial"/>
              </a:rPr>
              <a:t>How well scores rank hits above non-hits across thresholds</a:t>
            </a:r>
          </a:p>
        </p:txBody>
      </p:sp>
      <p:graphicFrame>
        <p:nvGraphicFramePr>
          <p:cNvPr id="13" name="Chart"/>
          <p:cNvGraphicFramePr/>
          <p:nvPr/>
        </p:nvGraphicFramePr>
        <p:xfrm>
          <a:off xmlns:a="http://schemas.openxmlformats.org/drawingml/2006/main" x="533400" y="1952625"/>
          <a:ext xmlns:a="http://schemas.openxmlformats.org/drawingml/2006/main" cx="6667500" cy="3238500"/>
        </p:xfrm>
        <a:graphic xmlns:a="http://schemas.openxmlformats.org/drawingml/2006/main">
          <a:graphicData uri="http://schemas.openxmlformats.org/drawingml/2006/chart">
            <c:chart xmlns:r="http://schemas.openxmlformats.org/officeDocument/2006/relationships" xmlns:c="http://schemas.openxmlformats.org/drawingml/2006/chart" r:id="R1f850cc9a1184061"/>
          </a:graphicData>
        </a:graphic>
      </p:graphicFrame>
      <p:sp>
        <p:nvSpPr>
          <p:cNvPr id="4" name="0.8767">
            <a:extLst xmlns:a="http://schemas.openxmlformats.org/drawingml/2006/main">
              <a:ext uri="{FF2B5EF4-FFF2-40B4-BE49-F238E27FC236}">
                <a16:creationId xmlns:a16="http://schemas.microsoft.com/office/drawing/2014/main" id="{B2CC72CE-94BA-4995-9B01-19E271347D69}"/>
              </a:ext>
            </a:extLst>
          </p:cNvPr>
          <p:cNvSpPr>
            <a:spLocks xmlns:a="http://schemas.openxmlformats.org/drawingml/2006/main" noGrp="1"/>
          </p:cNvSpPr>
          <p:nvPr/>
        </p:nvSpPr>
        <p:spPr>
          <a:xfrm xmlns:a="http://schemas.openxmlformats.org/drawingml/2006/main">
            <a:off x="7772400" y="2000250"/>
            <a:ext cx="361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125" b="1">
                <a:solidFill>
                  <a:srgbClr val="087F70"/>
                </a:solidFill>
                <a:latin typeface="Arial"/>
                <a:ea typeface="Arial"/>
                <a:cs typeface="Arial"/>
              </a:defRPr>
            </a:pPr>
            <a:r>
              <a:rPr sz="4125" b="1">
                <a:solidFill>
                  <a:srgbClr val="087F70"/>
                </a:solidFill>
                <a:latin typeface="Arial"/>
                <a:ea typeface="Arial"/>
                <a:cs typeface="Arial"/>
              </a:rPr>
              <a:t>0.8767</a:t>
            </a:r>
          </a:p>
        </p:txBody>
      </p:sp>
      <p:sp>
        <p:nvSpPr>
          <p:cNvPr id="5" name="Random forest&#10;Selected model">
            <a:extLst xmlns:a="http://schemas.openxmlformats.org/drawingml/2006/main">
              <a:ext uri="{FF2B5EF4-FFF2-40B4-BE49-F238E27FC236}">
                <a16:creationId xmlns:a16="http://schemas.microsoft.com/office/drawing/2014/main" id="{2A51A9E7-F299-4B04-9B06-A0CF7E4B3124}"/>
              </a:ext>
            </a:extLst>
          </p:cNvPr>
          <p:cNvSpPr>
            <a:spLocks xmlns:a="http://schemas.openxmlformats.org/drawingml/2006/main" noGrp="1"/>
          </p:cNvSpPr>
          <p:nvPr/>
        </p:nvSpPr>
        <p:spPr>
          <a:xfrm xmlns:a="http://schemas.openxmlformats.org/drawingml/2006/main">
            <a:off x="7772400" y="2686050"/>
            <a:ext cx="361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5382F"/>
                </a:solidFill>
                <a:latin typeface="Arial"/>
                <a:ea typeface="Arial"/>
                <a:cs typeface="Arial"/>
              </a:defRPr>
            </a:pPr>
            <a:r>
              <a:rPr sz="1800" b="0">
                <a:solidFill>
                  <a:srgbClr val="15382F"/>
                </a:solidFill>
                <a:latin typeface="Arial"/>
                <a:ea typeface="Arial"/>
                <a:cs typeface="Arial"/>
              </a:rPr>
              <a:t>Random forest</a:t>
            </a:r>
          </a:p>
          <a:p xmlns:a="http://schemas.openxmlformats.org/drawingml/2006/main">
            <a:pPr>
              <a:defRPr sz="1800" b="0">
                <a:solidFill>
                  <a:srgbClr val="15382F"/>
                </a:solidFill>
                <a:latin typeface="Arial"/>
                <a:ea typeface="Arial"/>
                <a:cs typeface="Arial"/>
              </a:defRPr>
            </a:pPr>
            <a:r>
              <a:rPr sz="1800" b="0">
                <a:solidFill>
                  <a:srgbClr val="15382F"/>
                </a:solidFill>
                <a:latin typeface="Arial"/>
                <a:ea typeface="Arial"/>
                <a:cs typeface="Arial"/>
              </a:rPr>
              <a:t>Selected model</a:t>
            </a:r>
          </a:p>
        </p:txBody>
      </p:sp>
      <p:sp>
        <p:nvSpPr>
          <p:cNvPr id="6" name="0.8863">
            <a:extLst xmlns:a="http://schemas.openxmlformats.org/drawingml/2006/main">
              <a:ext uri="{FF2B5EF4-FFF2-40B4-BE49-F238E27FC236}">
                <a16:creationId xmlns:a16="http://schemas.microsoft.com/office/drawing/2014/main" id="{CB7ED34C-580D-4A01-ABBA-9E3FE307670A}"/>
              </a:ext>
            </a:extLst>
          </p:cNvPr>
          <p:cNvSpPr>
            <a:spLocks xmlns:a="http://schemas.openxmlformats.org/drawingml/2006/main" noGrp="1"/>
          </p:cNvSpPr>
          <p:nvPr/>
        </p:nvSpPr>
        <p:spPr>
          <a:xfrm xmlns:a="http://schemas.openxmlformats.org/drawingml/2006/main">
            <a:off x="7772400" y="3324225"/>
            <a:ext cx="361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125" b="1">
                <a:solidFill>
                  <a:srgbClr val="15382F"/>
                </a:solidFill>
                <a:latin typeface="Arial"/>
                <a:ea typeface="Arial"/>
                <a:cs typeface="Arial"/>
              </a:defRPr>
            </a:pPr>
            <a:r>
              <a:rPr sz="4125" b="1">
                <a:solidFill>
                  <a:srgbClr val="15382F"/>
                </a:solidFill>
                <a:latin typeface="Arial"/>
                <a:ea typeface="Arial"/>
                <a:cs typeface="Arial"/>
              </a:rPr>
              <a:t>0.8863</a:t>
            </a:r>
          </a:p>
        </p:txBody>
      </p:sp>
      <p:sp>
        <p:nvSpPr>
          <p:cNvPr id="7" name="Neural network&#10;Highest recorded ROC-AUC">
            <a:extLst xmlns:a="http://schemas.openxmlformats.org/drawingml/2006/main">
              <a:ext uri="{FF2B5EF4-FFF2-40B4-BE49-F238E27FC236}">
                <a16:creationId xmlns:a16="http://schemas.microsoft.com/office/drawing/2014/main" id="{2A3EF708-50D3-46B6-AE70-A91C55777FC5}"/>
              </a:ext>
            </a:extLst>
          </p:cNvPr>
          <p:cNvSpPr>
            <a:spLocks xmlns:a="http://schemas.openxmlformats.org/drawingml/2006/main" noGrp="1"/>
          </p:cNvSpPr>
          <p:nvPr/>
        </p:nvSpPr>
        <p:spPr>
          <a:xfrm xmlns:a="http://schemas.openxmlformats.org/drawingml/2006/main">
            <a:off x="7772400" y="4019550"/>
            <a:ext cx="361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5382F"/>
                </a:solidFill>
                <a:latin typeface="Arial"/>
                <a:ea typeface="Arial"/>
                <a:cs typeface="Arial"/>
              </a:defRPr>
            </a:pPr>
            <a:r>
              <a:rPr sz="1800" b="0">
                <a:solidFill>
                  <a:srgbClr val="15382F"/>
                </a:solidFill>
                <a:latin typeface="Arial"/>
                <a:ea typeface="Arial"/>
                <a:cs typeface="Arial"/>
              </a:rPr>
              <a:t>Neural network</a:t>
            </a:r>
          </a:p>
          <a:p xmlns:a="http://schemas.openxmlformats.org/drawingml/2006/main">
            <a:pPr>
              <a:defRPr sz="1800" b="0">
                <a:solidFill>
                  <a:srgbClr val="15382F"/>
                </a:solidFill>
                <a:latin typeface="Arial"/>
                <a:ea typeface="Arial"/>
                <a:cs typeface="Arial"/>
              </a:defRPr>
            </a:pPr>
            <a:r>
              <a:rPr sz="1800" b="0">
                <a:solidFill>
                  <a:srgbClr val="15382F"/>
                </a:solidFill>
                <a:latin typeface="Arial"/>
                <a:ea typeface="Arial"/>
                <a:cs typeface="Arial"/>
              </a:rPr>
              <a:t>Highest recorded ROC-AUC</a:t>
            </a:r>
          </a:p>
        </p:txBody>
      </p:sp>
      <p:sp>
        <p:nvSpPr>
          <p:cNvPr id="8" name="Forest chosen for its highest accuracy: ">
            <a:extLst xmlns:a="http://schemas.openxmlformats.org/drawingml/2006/main">
              <a:ext uri="{FF2B5EF4-FFF2-40B4-BE49-F238E27FC236}">
                <a16:creationId xmlns:a16="http://schemas.microsoft.com/office/drawing/2014/main" id="{41E15124-3BCD-4B55-BD7D-78B6212EB3F6}"/>
              </a:ext>
            </a:extLst>
          </p:cNvPr>
          <p:cNvSpPr>
            <a:spLocks xmlns:a="http://schemas.openxmlformats.org/drawingml/2006/main" noGrp="1"/>
          </p:cNvSpPr>
          <p:nvPr/>
        </p:nvSpPr>
        <p:spPr>
          <a:xfrm xmlns:a="http://schemas.openxmlformats.org/drawingml/2006/main">
            <a:off x="7772400" y="4752975"/>
            <a:ext cx="3619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B7068"/>
                </a:solidFill>
                <a:latin typeface="Arial"/>
                <a:ea typeface="Arial"/>
                <a:cs typeface="Arial"/>
              </a:defRPr>
            </a:pPr>
            <a:r>
              <a:rPr sz="1725" b="0">
                <a:solidFill>
                  <a:srgbClr val="5B7068"/>
                </a:solidFill>
                <a:latin typeface="Arial"/>
                <a:ea typeface="Arial"/>
                <a:cs typeface="Arial"/>
              </a:rPr>
              <a:t>Forest chosen for its highest accuracy: 82.48%</a:t>
            </a:r>
          </a:p>
        </p:txBody>
      </p:sp>
      <p:sp>
        <p:nvSpPr>
          <p:cNvPr id="9" name="ROC traces hit recall against false alar">
            <a:extLst xmlns:a="http://schemas.openxmlformats.org/drawingml/2006/main">
              <a:ext uri="{FF2B5EF4-FFF2-40B4-BE49-F238E27FC236}">
                <a16:creationId xmlns:a16="http://schemas.microsoft.com/office/drawing/2014/main" id="{43A9883F-8DD9-4AAD-A2F7-6383CEAB99FB}"/>
              </a:ext>
            </a:extLst>
          </p:cNvPr>
          <p:cNvSpPr>
            <a:spLocks xmlns:a="http://schemas.openxmlformats.org/drawingml/2006/main" noGrp="1"/>
          </p:cNvSpPr>
          <p:nvPr/>
        </p:nvSpPr>
        <p:spPr>
          <a:xfrm xmlns:a="http://schemas.openxmlformats.org/drawingml/2006/main">
            <a:off x="609600" y="555307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B7068"/>
                </a:solidFill>
                <a:latin typeface="Arial"/>
                <a:ea typeface="Arial"/>
                <a:cs typeface="Arial"/>
              </a:defRPr>
            </a:pPr>
            <a:r>
              <a:rPr sz="1725" b="0">
                <a:solidFill>
                  <a:srgbClr val="5B7068"/>
                </a:solidFill>
                <a:latin typeface="Arial"/>
                <a:ea typeface="Arial"/>
                <a:cs typeface="Arial"/>
              </a:rPr>
              <a:t>ROC traces hit recall against false alarms as the threshold changes.</a:t>
            </a:r>
          </a:p>
          <a:p xmlns:a="http://schemas.openxmlformats.org/drawingml/2006/main">
            <a:pPr>
              <a:defRPr sz="1725" b="0">
                <a:solidFill>
                  <a:srgbClr val="5B7068"/>
                </a:solidFill>
                <a:latin typeface="Arial"/>
                <a:ea typeface="Arial"/>
                <a:cs typeface="Arial"/>
              </a:defRPr>
            </a:pPr>
            <a:r>
              <a:rPr sz="1725" b="0">
                <a:solidFill>
                  <a:srgbClr val="5B7068"/>
                </a:solidFill>
                <a:latin typeface="Arial"/>
                <a:ea typeface="Arial"/>
                <a:cs typeface="Arial"/>
              </a:rPr>
              <a:t>AUC: 0.5 is chance; 1.0 is perfect ranking. It is a different metric from accuracy.</a:t>
            </a:r>
          </a:p>
        </p:txBody>
      </p:sp>
      <p:sp>
        <p:nvSpPr>
          <p:cNvPr id="10" name="08">
            <a:extLst xmlns:a="http://schemas.openxmlformats.org/drawingml/2006/main">
              <a:ext uri="{FF2B5EF4-FFF2-40B4-BE49-F238E27FC236}">
                <a16:creationId xmlns:a16="http://schemas.microsoft.com/office/drawing/2014/main" id="{85C6C5C7-526F-4AFA-B39C-097D1D9AF44B}"/>
              </a:ext>
            </a:extLst>
          </p:cNvPr>
          <p:cNvSpPr>
            <a:spLocks xmlns:a="http://schemas.openxmlformats.org/drawingml/2006/main" noGrp="1"/>
          </p:cNvSpPr>
          <p:nvPr/>
        </p:nvSpPr>
        <p:spPr>
          <a:xfrm xmlns:a="http://schemas.openxmlformats.org/drawingml/2006/main">
            <a:off x="11239500" y="62674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B7068"/>
                </a:solidFill>
                <a:latin typeface="Arial"/>
                <a:ea typeface="Arial"/>
                <a:cs typeface="Arial"/>
              </a:defRPr>
            </a:pPr>
            <a:r>
              <a:rPr sz="1350" b="0">
                <a:solidFill>
                  <a:srgbClr val="5B7068"/>
                </a:solidFill>
                <a:latin typeface="Arial"/>
                <a:ea typeface="Arial"/>
                <a:cs typeface="Arial"/>
              </a:rPr>
              <a:t>08</a:t>
            </a:r>
          </a:p>
        </p:txBody>
      </p:sp>
    </p:spTree>
    <p:extLst>
      <p:ext uri="{BB962C8B-B14F-4D97-AF65-F5344CB8AC3E}">
        <p14:creationId xmlns:p14="http://schemas.microsoft.com/office/powerpoint/2010/main" val="51673317"/>
      </p:ext>
    </p:extLst>
  </p:cSld>
</p:sld>
</file>

<file path=ppt/slides/slide9.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5" name="Artist history adds the strongest s">
            <a:extLst xmlns:a="http://schemas.openxmlformats.org/drawingml/2006/main">
              <a:ext uri="{FF2B5EF4-FFF2-40B4-BE49-F238E27FC236}">
                <a16:creationId xmlns:a16="http://schemas.microsoft.com/office/drawing/2014/main" id="{30448763-C520-410F-8C4A-A661F032EB75}"/>
              </a:ext>
            </a:extLst>
          </p:cNvPr>
          <p:cNvSpPr>
            <a:spLocks xmlns:a="http://schemas.openxmlformats.org/drawingml/2006/main" noGrp="1"/>
          </p:cNvSpPr>
          <p:nvPr/>
        </p:nvSpPr>
        <p:spPr>
          <a:xfrm xmlns:a="http://schemas.openxmlformats.org/drawingml/2006/main">
            <a:off x="609600" y="45720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15382F"/>
                </a:solidFill>
                <a:latin typeface="Arial"/>
                <a:ea typeface="Arial"/>
                <a:cs typeface="Arial"/>
              </a:defRPr>
            </a:pPr>
            <a:r>
              <a:rPr sz="3300" b="1">
                <a:solidFill>
                  <a:srgbClr val="15382F"/>
                </a:solidFill>
                <a:latin typeface="Arial"/>
                <a:ea typeface="Arial"/>
                <a:cs typeface="Arial"/>
              </a:rPr>
              <a:t>Artist history adds the strongest signal</a:t>
            </a:r>
          </a:p>
        </p:txBody>
      </p:sp>
      <p:sp>
        <p:nvSpPr>
          <p:cNvPr id="2" name="07">
            <a:extLst xmlns:a="http://schemas.openxmlformats.org/drawingml/2006/main">
              <a:ext uri="{FF2B5EF4-FFF2-40B4-BE49-F238E27FC236}">
                <a16:creationId xmlns:a16="http://schemas.microsoft.com/office/drawing/2014/main" id="{BCA7F6E9-791E-419D-8FA0-116F78F3A74D}"/>
              </a:ext>
            </a:extLst>
          </p:cNvPr>
          <p:cNvSpPr>
            <a:spLocks xmlns:a="http://schemas.openxmlformats.org/drawingml/2006/main" noGrp="1"/>
          </p:cNvSpPr>
          <p:nvPr/>
        </p:nvSpPr>
        <p:spPr>
          <a:xfrm xmlns:a="http://schemas.openxmlformats.org/drawingml/2006/main">
            <a:off x="11239500" y="62674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b="0">
                <a:solidFill>
                  <a:srgbClr val="5B7068"/>
                </a:solidFill>
                <a:latin typeface="Arial"/>
                <a:ea typeface="Arial"/>
                <a:cs typeface="Arial"/>
              </a:defRPr>
            </a:pPr>
            <a:r>
              <a:rPr sz="1350" b="0">
                <a:solidFill>
                  <a:srgbClr val="5B7068"/>
                </a:solidFill>
                <a:latin typeface="Arial"/>
                <a:ea typeface="Arial"/>
                <a:cs typeface="Arial"/>
              </a:rPr>
              <a:t>09</a:t>
            </a:r>
            <a:endParaRPr sz="1350" b="0">
              <a:solidFill>
                <a:srgbClr val="5B7068"/>
              </a:solidFill>
              <a:latin typeface="Arial"/>
              <a:ea typeface="Arial"/>
              <a:cs typeface="Arial"/>
            </a:endParaRPr>
          </a:p>
        </p:txBody>
      </p:sp>
      <p:graphicFrame>
        <p:nvGraphicFramePr>
          <p:cNvPr id="9" name="Chart"/>
          <p:cNvGraphicFramePr/>
          <p:nvPr/>
        </p:nvGraphicFramePr>
        <p:xfrm>
          <a:off xmlns:a="http://schemas.openxmlformats.org/drawingml/2006/main" x="609600" y="1543050"/>
          <a:ext xmlns:a="http://schemas.openxmlformats.org/drawingml/2006/main" cx="10668000" cy="3733800"/>
        </p:xfrm>
        <a:graphic xmlns:a="http://schemas.openxmlformats.org/drawingml/2006/main">
          <a:graphicData uri="http://schemas.openxmlformats.org/drawingml/2006/chart">
            <c:chart xmlns:r="http://schemas.openxmlformats.org/officeDocument/2006/relationships" xmlns:c="http://schemas.openxmlformats.org/drawingml/2006/chart" r:id="R516e197c258f4af8"/>
          </a:graphicData>
        </a:graphic>
      </p:graphicFrame>
      <p:sp>
        <p:nvSpPr>
          <p:cNvPr id="4" name="Accuracy improves by 14.86 to 20.59">
            <a:extLst xmlns:a="http://schemas.openxmlformats.org/drawingml/2006/main">
              <a:ext uri="{FF2B5EF4-FFF2-40B4-BE49-F238E27FC236}">
                <a16:creationId xmlns:a16="http://schemas.microsoft.com/office/drawing/2014/main" id="{F20FC84E-4DAA-420A-86FC-FAE58929F585}"/>
              </a:ext>
            </a:extLst>
          </p:cNvPr>
          <p:cNvSpPr>
            <a:spLocks xmlns:a="http://schemas.openxmlformats.org/drawingml/2006/main" noGrp="1"/>
          </p:cNvSpPr>
          <p:nvPr/>
        </p:nvSpPr>
        <p:spPr>
          <a:xfrm xmlns:a="http://schemas.openxmlformats.org/drawingml/2006/main">
            <a:off x="647700" y="5572125"/>
            <a:ext cx="1057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087F70"/>
                </a:solidFill>
                <a:latin typeface="Arial"/>
                <a:ea typeface="Arial"/>
                <a:cs typeface="Arial"/>
              </a:defRPr>
            </a:pPr>
            <a:r>
              <a:rPr sz="2175" b="1">
                <a:solidFill>
                  <a:srgbClr val="087F70"/>
                </a:solidFill>
                <a:latin typeface="Arial"/>
                <a:ea typeface="Arial"/>
                <a:cs typeface="Arial"/>
              </a:rPr>
              <a:t>Accuracy improves by 14.86 to 20.59 percentage points across all models</a:t>
            </a:r>
          </a:p>
        </p:txBody>
      </p:sp>
    </p:spTree>
    <p:extLst>
      <p:ext uri="{BB962C8B-B14F-4D97-AF65-F5344CB8AC3E}">
        <p14:creationId xmlns:p14="http://schemas.microsoft.com/office/powerpoint/2010/main" val="558365"/>
      </p:ext>
    </p:extLst>
  </p:cSld>
</p:sld>
</file>

<file path=ppt/slides/slide10.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13" name="Completed project implementation">
            <a:extLst xmlns:a="http://schemas.openxmlformats.org/drawingml/2006/main">
              <a:ext uri="{FF2B5EF4-FFF2-40B4-BE49-F238E27FC236}">
                <a16:creationId xmlns:a16="http://schemas.microsoft.com/office/drawing/2014/main" id="{D97CD86B-5A25-4AD9-9E06-AB41CF5ED021}"/>
              </a:ext>
            </a:extLst>
          </p:cNvPr>
          <p:cNvSpPr>
            <a:spLocks xmlns:a="http://schemas.openxmlformats.org/drawingml/2006/main" noGrp="1"/>
          </p:cNvSpPr>
          <p:nvPr/>
        </p:nvSpPr>
        <p:spPr>
          <a:xfrm xmlns:a="http://schemas.openxmlformats.org/drawingml/2006/main">
            <a:off x="609600" y="45720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15382F"/>
                </a:solidFill>
                <a:latin typeface="Arial"/>
                <a:ea typeface="Arial"/>
                <a:cs typeface="Arial"/>
              </a:defRPr>
            </a:pPr>
            <a:r>
              <a:rPr sz="3300" b="1">
                <a:solidFill>
                  <a:srgbClr val="15382F"/>
                </a:solidFill>
                <a:latin typeface="Arial"/>
                <a:ea typeface="Arial"/>
                <a:cs typeface="Arial"/>
              </a:rPr>
              <a:t>Implementation and live demo</a:t>
            </a:r>
            <a:endParaRPr sz="3300" b="1">
              <a:solidFill>
                <a:srgbClr val="15382F"/>
              </a:solidFill>
              <a:latin typeface="Arial"/>
              <a:ea typeface="Arial"/>
              <a:cs typeface="Arial"/>
            </a:endParaRPr>
          </a:p>
        </p:txBody>
      </p:sp>
      <p:sp>
        <p:nvSpPr>
          <p:cNvPr id="2" name="09">
            <a:extLst xmlns:a="http://schemas.openxmlformats.org/drawingml/2006/main">
              <a:ext uri="{FF2B5EF4-FFF2-40B4-BE49-F238E27FC236}">
                <a16:creationId xmlns:a16="http://schemas.microsoft.com/office/drawing/2014/main" id="{84D34E25-61F2-4363-B7BC-6314B5242BC8}"/>
              </a:ext>
            </a:extLst>
          </p:cNvPr>
          <p:cNvSpPr>
            <a:spLocks xmlns:a="http://schemas.openxmlformats.org/drawingml/2006/main" noGrp="1"/>
          </p:cNvSpPr>
          <p:nvPr/>
        </p:nvSpPr>
        <p:spPr>
          <a:xfrm xmlns:a="http://schemas.openxmlformats.org/drawingml/2006/main">
            <a:off x="11239500" y="62674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b="0">
                <a:solidFill>
                  <a:srgbClr val="5B7068"/>
                </a:solidFill>
                <a:latin typeface="Arial"/>
                <a:ea typeface="Arial"/>
                <a:cs typeface="Arial"/>
              </a:defRPr>
            </a:pPr>
            <a:r>
              <a:rPr sz="1350" b="0">
                <a:solidFill>
                  <a:srgbClr val="5B7068"/>
                </a:solidFill>
                <a:latin typeface="Arial"/>
                <a:ea typeface="Arial"/>
                <a:cs typeface="Arial"/>
              </a:rPr>
              <a:t>10</a:t>
            </a:r>
            <a:endParaRPr sz="1350" b="0">
              <a:solidFill>
                <a:srgbClr val="5B7068"/>
              </a:solidFill>
              <a:latin typeface="Arial"/>
              <a:ea typeface="Arial"/>
              <a:cs typeface="Arial"/>
            </a:endParaRPr>
          </a:p>
        </p:txBody>
      </p:sp>
      <p:sp>
        <p:nvSpPr>
          <p:cNvPr id="3" name="Python and scikit-learn pipelines">
            <a:extLst xmlns:a="http://schemas.openxmlformats.org/drawingml/2006/main">
              <a:ext uri="{FF2B5EF4-FFF2-40B4-BE49-F238E27FC236}">
                <a16:creationId xmlns:a16="http://schemas.microsoft.com/office/drawing/2014/main" id="{3F8542C8-2742-43B2-97BD-0F4971C226A0}"/>
              </a:ext>
            </a:extLst>
          </p:cNvPr>
          <p:cNvSpPr>
            <a:spLocks xmlns:a="http://schemas.openxmlformats.org/drawingml/2006/main" noGrp="1"/>
          </p:cNvSpPr>
          <p:nvPr/>
        </p:nvSpPr>
        <p:spPr>
          <a:xfrm xmlns:a="http://schemas.openxmlformats.org/drawingml/2006/main">
            <a:off x="609600" y="15621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15382F"/>
                </a:solidFill>
                <a:latin typeface="Arial"/>
                <a:ea typeface="Arial"/>
                <a:cs typeface="Arial"/>
              </a:defRPr>
            </a:pPr>
            <a:r>
              <a:rPr sz="2400" b="1">
                <a:solidFill>
                  <a:srgbClr val="15382F"/>
                </a:solidFill>
                <a:latin typeface="Arial"/>
                <a:ea typeface="Arial"/>
                <a:cs typeface="Arial"/>
              </a:rPr>
              <a:t>Python and scikit-learn pipelines</a:t>
            </a:r>
            <a:endParaRPr sz="2400" b="1">
              <a:solidFill>
                <a:srgbClr val="15382F"/>
              </a:solidFill>
              <a:latin typeface="Arial"/>
              <a:ea typeface="Arial"/>
              <a:cs typeface="Arial"/>
            </a:endParaRPr>
          </a:p>
        </p:txBody>
      </p:sp>
      <p:sp>
        <p:nvSpPr>
          <p:cNvPr id="4" name="Dataset audits, saved split assignm">
            <a:extLst xmlns:a="http://schemas.openxmlformats.org/drawingml/2006/main">
              <a:ext uri="{FF2B5EF4-FFF2-40B4-BE49-F238E27FC236}">
                <a16:creationId xmlns:a16="http://schemas.microsoft.com/office/drawing/2014/main" id="{9B5FBFCB-B0D3-4E18-B01F-CFEEA5107481}"/>
              </a:ext>
            </a:extLst>
          </p:cNvPr>
          <p:cNvSpPr>
            <a:spLocks xmlns:a="http://schemas.openxmlformats.org/drawingml/2006/main" noGrp="1"/>
          </p:cNvSpPr>
          <p:nvPr/>
        </p:nvSpPr>
        <p:spPr>
          <a:xfrm xmlns:a="http://schemas.openxmlformats.org/drawingml/2006/main">
            <a:off x="609600" y="21336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5B7068"/>
                </a:solidFill>
                <a:latin typeface="Arial"/>
                <a:ea typeface="Arial"/>
                <a:cs typeface="Arial"/>
              </a:defRPr>
            </a:pPr>
            <a:r>
              <a:rPr sz="2025" b="0">
                <a:solidFill>
                  <a:srgbClr val="5B7068"/>
                </a:solidFill>
                <a:latin typeface="Arial"/>
                <a:ea typeface="Arial"/>
                <a:cs typeface="Arial"/>
              </a:rPr>
              <a:t>A saved pipeline keeps preprocessing and the classifier together for prediction</a:t>
            </a:r>
            <a:endParaRPr sz="2025" b="0">
              <a:solidFill>
                <a:srgbClr val="5B7068"/>
              </a:solidFill>
              <a:latin typeface="Arial"/>
              <a:ea typeface="Arial"/>
              <a:cs typeface="Arial"/>
            </a:endParaRPr>
          </a:p>
        </p:txBody>
      </p:sp>
      <p:sp>
        <p:nvSpPr>
          <p:cNvPr id="5" name="420">
            <a:extLst xmlns:a="http://schemas.openxmlformats.org/drawingml/2006/main">
              <a:ext uri="{FF2B5EF4-FFF2-40B4-BE49-F238E27FC236}">
                <a16:creationId xmlns:a16="http://schemas.microsoft.com/office/drawing/2014/main" id="{29F8AAA7-FE4A-44A2-A13C-9087E576A186}"/>
              </a:ext>
            </a:extLst>
          </p:cNvPr>
          <p:cNvSpPr>
            <a:spLocks xmlns:a="http://schemas.openxmlformats.org/drawingml/2006/main" noGrp="1"/>
          </p:cNvSpPr>
          <p:nvPr/>
        </p:nvSpPr>
        <p:spPr>
          <a:xfrm xmlns:a="http://schemas.openxmlformats.org/drawingml/2006/main">
            <a:off x="609600" y="3219450"/>
            <a:ext cx="3238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5400" b="1">
                <a:solidFill>
                  <a:srgbClr val="087F70"/>
                </a:solidFill>
                <a:latin typeface="Arial"/>
                <a:ea typeface="Arial"/>
                <a:cs typeface="Arial"/>
              </a:defRPr>
            </a:pPr>
            <a:r>
              <a:rPr sz="5400" b="1">
                <a:solidFill>
                  <a:srgbClr val="087F70"/>
                </a:solidFill>
                <a:latin typeface="Arial"/>
                <a:ea typeface="Arial"/>
                <a:cs typeface="Arial"/>
              </a:rPr>
              <a:t>01</a:t>
            </a:r>
            <a:endParaRPr sz="5400" b="1">
              <a:solidFill>
                <a:srgbClr val="087F70"/>
              </a:solidFill>
              <a:latin typeface="Arial"/>
              <a:ea typeface="Arial"/>
              <a:cs typeface="Arial"/>
            </a:endParaRPr>
          </a:p>
        </p:txBody>
      </p:sp>
      <p:sp>
        <p:nvSpPr>
          <p:cNvPr id="6" name="search setting and stage records">
            <a:extLst xmlns:a="http://schemas.openxmlformats.org/drawingml/2006/main">
              <a:ext uri="{FF2B5EF4-FFF2-40B4-BE49-F238E27FC236}">
                <a16:creationId xmlns:a16="http://schemas.microsoft.com/office/drawing/2014/main" id="{36A48FD8-1A64-4557-A66B-B7B9E81DEF7E}"/>
              </a:ext>
            </a:extLst>
          </p:cNvPr>
          <p:cNvSpPr>
            <a:spLocks xmlns:a="http://schemas.openxmlformats.org/drawingml/2006/main" noGrp="1"/>
          </p:cNvSpPr>
          <p:nvPr/>
        </p:nvSpPr>
        <p:spPr>
          <a:xfrm xmlns:a="http://schemas.openxmlformats.org/drawingml/2006/main">
            <a:off x="647700" y="4133850"/>
            <a:ext cx="333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b="0">
                <a:solidFill>
                  <a:srgbClr val="15382F"/>
                </a:solidFill>
                <a:latin typeface="Arial"/>
                <a:ea typeface="Arial"/>
                <a:cs typeface="Arial"/>
              </a:defRPr>
            </a:pPr>
            <a:r>
              <a:rPr sz="1950" b="0">
                <a:solidFill>
                  <a:srgbClr val="15382F"/>
                </a:solidFill>
                <a:latin typeface="Arial"/>
                <a:ea typeface="Arial"/>
                <a:cs typeface="Arial"/>
              </a:rPr>
              <a:t>Enter the four song features</a:t>
            </a:r>
            <a:endParaRPr sz="1950" b="0">
              <a:solidFill>
                <a:srgbClr val="15382F"/>
              </a:solidFill>
              <a:latin typeface="Arial"/>
              <a:ea typeface="Arial"/>
              <a:cs typeface="Arial"/>
            </a:endParaRPr>
          </a:p>
        </p:txBody>
      </p:sp>
      <p:sp>
        <p:nvSpPr>
          <p:cNvPr id="7" name="42">
            <a:extLst xmlns:a="http://schemas.openxmlformats.org/drawingml/2006/main">
              <a:ext uri="{FF2B5EF4-FFF2-40B4-BE49-F238E27FC236}">
                <a16:creationId xmlns:a16="http://schemas.microsoft.com/office/drawing/2014/main" id="{4127F397-74D8-44EE-BA25-D7A5F1554944}"/>
              </a:ext>
            </a:extLst>
          </p:cNvPr>
          <p:cNvSpPr>
            <a:spLocks xmlns:a="http://schemas.openxmlformats.org/drawingml/2006/main" noGrp="1"/>
          </p:cNvSpPr>
          <p:nvPr/>
        </p:nvSpPr>
        <p:spPr>
          <a:xfrm xmlns:a="http://schemas.openxmlformats.org/drawingml/2006/main">
            <a:off x="4495800" y="3219450"/>
            <a:ext cx="3143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5400" b="1">
                <a:solidFill>
                  <a:srgbClr val="087F70"/>
                </a:solidFill>
                <a:latin typeface="Arial"/>
                <a:ea typeface="Arial"/>
                <a:cs typeface="Arial"/>
              </a:defRPr>
            </a:pPr>
            <a:r>
              <a:rPr sz="5400" b="1">
                <a:solidFill>
                  <a:srgbClr val="087F70"/>
                </a:solidFill>
                <a:latin typeface="Arial"/>
                <a:ea typeface="Arial"/>
                <a:cs typeface="Arial"/>
              </a:rPr>
              <a:t>02</a:t>
            </a:r>
            <a:endParaRPr sz="5400" b="1">
              <a:solidFill>
                <a:srgbClr val="087F70"/>
              </a:solidFill>
              <a:latin typeface="Arial"/>
              <a:ea typeface="Arial"/>
              <a:cs typeface="Arial"/>
            </a:endParaRPr>
          </a:p>
        </p:txBody>
      </p:sp>
      <p:sp>
        <p:nvSpPr>
          <p:cNvPr id="8" name="fitted v2 pipelines">
            <a:extLst xmlns:a="http://schemas.openxmlformats.org/drawingml/2006/main">
              <a:ext uri="{FF2B5EF4-FFF2-40B4-BE49-F238E27FC236}">
                <a16:creationId xmlns:a16="http://schemas.microsoft.com/office/drawing/2014/main" id="{6289C3A2-6757-4399-A7B8-859B4921C6F7}"/>
              </a:ext>
            </a:extLst>
          </p:cNvPr>
          <p:cNvSpPr>
            <a:spLocks xmlns:a="http://schemas.openxmlformats.org/drawingml/2006/main" noGrp="1"/>
          </p:cNvSpPr>
          <p:nvPr/>
        </p:nvSpPr>
        <p:spPr>
          <a:xfrm xmlns:a="http://schemas.openxmlformats.org/drawingml/2006/main">
            <a:off x="4533900" y="4133850"/>
            <a:ext cx="3143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b="0">
                <a:solidFill>
                  <a:srgbClr val="15382F"/>
                </a:solidFill>
                <a:latin typeface="Arial"/>
                <a:ea typeface="Arial"/>
                <a:cs typeface="Arial"/>
              </a:defRPr>
            </a:pPr>
            <a:r>
              <a:rPr sz="1950" b="0">
                <a:solidFill>
                  <a:srgbClr val="15382F"/>
                </a:solidFill>
                <a:latin typeface="Arial"/>
                <a:ea typeface="Arial"/>
                <a:cs typeface="Arial"/>
              </a:rPr>
              <a:t>Apply the saved model pipeline</a:t>
            </a:r>
            <a:endParaRPr sz="1950" b="0">
              <a:solidFill>
                <a:srgbClr val="15382F"/>
              </a:solidFill>
              <a:latin typeface="Arial"/>
              <a:ea typeface="Arial"/>
              <a:cs typeface="Arial"/>
            </a:endParaRPr>
          </a:p>
        </p:txBody>
      </p:sp>
      <p:sp>
        <p:nvSpPr>
          <p:cNvPr id="9" name="14">
            <a:extLst xmlns:a="http://schemas.openxmlformats.org/drawingml/2006/main">
              <a:ext uri="{FF2B5EF4-FFF2-40B4-BE49-F238E27FC236}">
                <a16:creationId xmlns:a16="http://schemas.microsoft.com/office/drawing/2014/main" id="{C3F3A2DF-4EA3-4FC2-9EBF-6C5CFF346CA4}"/>
              </a:ext>
            </a:extLst>
          </p:cNvPr>
          <p:cNvSpPr>
            <a:spLocks xmlns:a="http://schemas.openxmlformats.org/drawingml/2006/main" noGrp="1"/>
          </p:cNvSpPr>
          <p:nvPr/>
        </p:nvSpPr>
        <p:spPr>
          <a:xfrm xmlns:a="http://schemas.openxmlformats.org/drawingml/2006/main">
            <a:off x="8324850" y="3219450"/>
            <a:ext cx="304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5400" b="1">
                <a:solidFill>
                  <a:srgbClr val="087F70"/>
                </a:solidFill>
                <a:latin typeface="Arial"/>
                <a:ea typeface="Arial"/>
                <a:cs typeface="Arial"/>
              </a:defRPr>
            </a:pPr>
            <a:r>
              <a:rPr sz="5400" b="1">
                <a:solidFill>
                  <a:srgbClr val="087F70"/>
                </a:solidFill>
                <a:latin typeface="Arial"/>
                <a:ea typeface="Arial"/>
                <a:cs typeface="Arial"/>
              </a:rPr>
              <a:t>03</a:t>
            </a:r>
            <a:endParaRPr sz="5400" b="1">
              <a:solidFill>
                <a:srgbClr val="087F70"/>
              </a:solidFill>
              <a:latin typeface="Arial"/>
              <a:ea typeface="Arial"/>
              <a:cs typeface="Arial"/>
            </a:endParaRPr>
          </a:p>
        </p:txBody>
      </p:sp>
      <p:sp>
        <p:nvSpPr>
          <p:cNvPr id="10" name="complete model ZIP bundles">
            <a:extLst xmlns:a="http://schemas.openxmlformats.org/drawingml/2006/main">
              <a:ext uri="{FF2B5EF4-FFF2-40B4-BE49-F238E27FC236}">
                <a16:creationId xmlns:a16="http://schemas.microsoft.com/office/drawing/2014/main" id="{7D2C10AB-F649-4EA4-A9A9-3842B8B7D47C}"/>
              </a:ext>
            </a:extLst>
          </p:cNvPr>
          <p:cNvSpPr>
            <a:spLocks xmlns:a="http://schemas.openxmlformats.org/drawingml/2006/main" noGrp="1"/>
          </p:cNvSpPr>
          <p:nvPr/>
        </p:nvSpPr>
        <p:spPr>
          <a:xfrm xmlns:a="http://schemas.openxmlformats.org/drawingml/2006/main">
            <a:off x="8362950" y="4133850"/>
            <a:ext cx="3143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b="0">
                <a:solidFill>
                  <a:srgbClr val="15382F"/>
                </a:solidFill>
                <a:latin typeface="Arial"/>
                <a:ea typeface="Arial"/>
                <a:cs typeface="Arial"/>
              </a:defRPr>
            </a:pPr>
            <a:r>
              <a:rPr sz="1950" b="0">
                <a:solidFill>
                  <a:srgbClr val="15382F"/>
                </a:solidFill>
                <a:latin typeface="Arial"/>
                <a:ea typeface="Arial"/>
                <a:cs typeface="Arial"/>
              </a:rPr>
              <a:t>Inspect the hit or non-hit prediction</a:t>
            </a:r>
            <a:endParaRPr sz="1950" b="0">
              <a:solidFill>
                <a:srgbClr val="15382F"/>
              </a:solidFill>
              <a:latin typeface="Arial"/>
              <a:ea typeface="Arial"/>
              <a:cs typeface="Arial"/>
            </a:endParaRPr>
          </a:p>
        </p:txBody>
      </p:sp>
      <p:sp>
        <p:nvSpPr>
          <p:cNvPr id="11" name="The prediction CLI uses the frozen ">
            <a:extLst xmlns:a="http://schemas.openxmlformats.org/drawingml/2006/main">
              <a:ext uri="{FF2B5EF4-FFF2-40B4-BE49-F238E27FC236}">
                <a16:creationId xmlns:a16="http://schemas.microsoft.com/office/drawing/2014/main" id="{D22E0241-BA92-4EA1-AAA4-2570ABABFF9C}"/>
              </a:ext>
            </a:extLst>
          </p:cNvPr>
          <p:cNvSpPr>
            <a:spLocks xmlns:a="http://schemas.openxmlformats.org/drawingml/2006/main" noGrp="1"/>
          </p:cNvSpPr>
          <p:nvPr/>
        </p:nvSpPr>
        <p:spPr>
          <a:xfrm xmlns:a="http://schemas.openxmlformats.org/drawingml/2006/main">
            <a:off x="647700" y="494030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15382F"/>
                </a:solidFill>
                <a:latin typeface="Arial"/>
                <a:ea typeface="Arial"/>
                <a:cs typeface="Arial"/>
              </a:defRPr>
            </a:pPr>
            <a:r>
              <a:rPr sz="2100" b="1">
                <a:solidFill>
                  <a:srgbClr val="15382F"/>
                </a:solidFill>
                <a:latin typeface="Arial"/>
                <a:ea typeface="Arial"/>
                <a:cs typeface="Arial"/>
              </a:rPr>
              <a:t>Selected model: random forest</a:t>
            </a:r>
            <a:endParaRPr sz="2100" b="1">
              <a:solidFill>
                <a:srgbClr val="15382F"/>
              </a:solidFill>
              <a:latin typeface="Arial"/>
              <a:ea typeface="Arial"/>
              <a:cs typeface="Arial"/>
            </a:endParaRPr>
          </a:p>
        </p:txBody>
      </p:sp>
      <p:sp>
        <p:nvSpPr>
          <p:cNvPr id="12" name="The newer forest remains a separate">
            <a:extLst xmlns:a="http://schemas.openxmlformats.org/drawingml/2006/main">
              <a:ext uri="{FF2B5EF4-FFF2-40B4-BE49-F238E27FC236}">
                <a16:creationId xmlns:a16="http://schemas.microsoft.com/office/drawing/2014/main" id="{3A594B30-EC83-4B6C-8A16-EC87A864636E}"/>
              </a:ext>
            </a:extLst>
          </p:cNvPr>
          <p:cNvSpPr>
            <a:spLocks xmlns:a="http://schemas.openxmlformats.org/drawingml/2006/main" noGrp="1"/>
          </p:cNvSpPr>
          <p:nvPr/>
        </p:nvSpPr>
        <p:spPr>
          <a:xfrm xmlns:a="http://schemas.openxmlformats.org/drawingml/2006/main">
            <a:off x="647700" y="5461000"/>
            <a:ext cx="1057275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B7068"/>
                </a:solidFill>
                <a:latin typeface="Arial"/>
                <a:ea typeface="Arial"/>
                <a:cs typeface="Arial"/>
              </a:defRPr>
            </a:pPr>
            <a:r>
              <a:rPr sz="1800" b="0">
                <a:solidFill>
                  <a:srgbClr val="5B7068"/>
                </a:solidFill>
                <a:latin typeface="Arial"/>
                <a:ea typeface="Arial"/>
                <a:cs typeface="Arial"/>
              </a:rPr>
              <a:t>300 trees, depth 8, minimum leaf size 5. Recorded accuracy: 82.48%.</a:t>
            </a:r>
            <a:endParaRPr sz="1800" b="0">
              <a:solidFill>
                <a:srgbClr val="5B7068"/>
              </a:solidFill>
              <a:latin typeface="Arial"/>
              <a:ea typeface="Arial"/>
              <a:cs typeface="Arial"/>
            </a:endParaRPr>
          </a:p>
        </p:txBody>
      </p:sp>
      <p:sp>
        <p:nvSpPr>
          <p:cNvPr id="14" name="Live demo link">
            <a:hlinkClick xmlns:r="http://schemas.openxmlformats.org/officeDocument/2006/relationships" xmlns:a="http://schemas.openxmlformats.org/drawingml/2006/main" r:id="R23eb07cec3e740b2"/>
            <a:extLst xmlns:a="http://schemas.openxmlformats.org/drawingml/2006/main">
              <a:ext uri="{FF2B5EF4-FFF2-40B4-BE49-F238E27FC236}">
                <a16:creationId xmlns:a16="http://schemas.microsoft.com/office/drawing/2014/main" id="{9A483BB5-ABCE-9A5F-5621-40E92D58FA1B}"/>
              </a:ext>
            </a:extLst>
          </p:cNvPr>
          <p:cNvSpPr>
            <a:spLocks xmlns:a="http://schemas.openxmlformats.org/drawingml/2006/main" noGrp="1"/>
          </p:cNvSpPr>
          <p:nvPr/>
        </p:nvSpPr>
        <p:spPr>
          <a:xfrm xmlns:a="http://schemas.openxmlformats.org/drawingml/2006/main">
            <a:off x="647700" y="5943600"/>
            <a:ext cx="10287000" cy="307777"/>
          </a:xfrm>
          <a:prstGeom xmlns:a="http://schemas.openxmlformats.org/drawingml/2006/main" prst="rect">
            <a:avLst/>
          </a:prstGeom>
          <a:noFill xmlns:a="http://schemas.openxmlformats.org/drawingml/2006/main"/>
        </p:spPr>
        <p:txBody>
          <a:bodyPr xmlns:a="http://schemas.openxmlformats.org/drawingml/2006/main" vert="horz" lIns="0" tIns="0" rIns="0" bIns="0">
            <a:spAutoFit/>
          </a:bodyPr>
          <a:lstStyle xmlns:a="http://schemas.openxmlformats.org/drawingml/2006/main"/>
          <a:p xmlns:a="http://schemas.openxmlformats.org/drawingml/2006/main">
            <a:r>
              <a:rPr sz="2000" b="1">
                <a:solidFill>
                  <a:srgbClr val="087F70"/>
                </a:solidFill>
                <a:latin typeface="Arial"/>
                <a:ea typeface="Arial"/>
                <a:cs typeface="Arial"/>
                <a:hlinkClick xmlns:r="http://schemas.openxmlformats.org/officeDocument/2006/relationships" r:id="R1dc4088833a448bb"/>
              </a:rPr>
              <a:t>Live demo: https://hitpredict-demo.streamlit.app/</a:t>
            </a:r>
            <a:endParaRPr sz="2000" b="1">
              <a:solidFill>
                <a:srgbClr val="087F70"/>
              </a:solidFill>
              <a:latin typeface="Arial"/>
              <a:ea typeface="Arial"/>
              <a:cs typeface="Arial"/>
            </a:endParaRPr>
          </a:p>
        </p:txBody>
      </p:sp>
    </p:spTree>
    <p:extLst>
      <p:ext uri="{BB962C8B-B14F-4D97-AF65-F5344CB8AC3E}">
        <p14:creationId xmlns:p14="http://schemas.microsoft.com/office/powerpoint/2010/main" val="1821145074"/>
      </p:ext>
    </p:extLst>
  </p:cSld>
</p:sld>
</file>

<file path=ppt/slides/slide11.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9" name="Conclusion and next steps">
            <a:extLst xmlns:a="http://schemas.openxmlformats.org/drawingml/2006/main">
              <a:ext uri="{FF2B5EF4-FFF2-40B4-BE49-F238E27FC236}">
                <a16:creationId xmlns:a16="http://schemas.microsoft.com/office/drawing/2014/main" id="{E9CAD7D3-18D6-4AB7-9DCA-F0362925B588}"/>
              </a:ext>
            </a:extLst>
          </p:cNvPr>
          <p:cNvSpPr>
            <a:spLocks xmlns:a="http://schemas.openxmlformats.org/drawingml/2006/main" noGrp="1"/>
          </p:cNvSpPr>
          <p:nvPr/>
        </p:nvSpPr>
        <p:spPr>
          <a:xfrm xmlns:a="http://schemas.openxmlformats.org/drawingml/2006/main">
            <a:off x="609600" y="457200"/>
            <a:ext cx="10934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300" b="1">
                <a:solidFill>
                  <a:srgbClr val="15382F"/>
                </a:solidFill>
                <a:latin typeface="Arial"/>
                <a:ea typeface="Arial"/>
                <a:cs typeface="Arial"/>
              </a:defRPr>
            </a:pPr>
            <a:r>
              <a:rPr sz="3300" b="1">
                <a:solidFill>
                  <a:srgbClr val="15382F"/>
                </a:solidFill>
                <a:latin typeface="Arial"/>
                <a:ea typeface="Arial"/>
                <a:cs typeface="Arial"/>
              </a:rPr>
              <a:t>Conclusion and next steps</a:t>
            </a:r>
          </a:p>
        </p:txBody>
      </p:sp>
      <p:sp>
        <p:nvSpPr>
          <p:cNvPr id="2" name="10">
            <a:extLst xmlns:a="http://schemas.openxmlformats.org/drawingml/2006/main">
              <a:ext uri="{FF2B5EF4-FFF2-40B4-BE49-F238E27FC236}">
                <a16:creationId xmlns:a16="http://schemas.microsoft.com/office/drawing/2014/main" id="{8128A7DA-1214-49B2-AA70-CE2B14393E56}"/>
              </a:ext>
            </a:extLst>
          </p:cNvPr>
          <p:cNvSpPr>
            <a:spLocks xmlns:a="http://schemas.openxmlformats.org/drawingml/2006/main" noGrp="1"/>
          </p:cNvSpPr>
          <p:nvPr/>
        </p:nvSpPr>
        <p:spPr>
          <a:xfrm xmlns:a="http://schemas.openxmlformats.org/drawingml/2006/main">
            <a:off x="11239500" y="62674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b="0">
                <a:solidFill>
                  <a:srgbClr val="5B7068"/>
                </a:solidFill>
                <a:latin typeface="Arial"/>
                <a:ea typeface="Arial"/>
                <a:cs typeface="Arial"/>
              </a:defRPr>
            </a:pPr>
            <a:r>
              <a:rPr sz="1350" b="0">
                <a:solidFill>
                  <a:srgbClr val="5B7068"/>
                </a:solidFill>
                <a:latin typeface="Arial"/>
                <a:ea typeface="Arial"/>
                <a:cs typeface="Arial"/>
              </a:rPr>
              <a:t>11</a:t>
            </a:r>
            <a:endParaRPr sz="1350" b="0">
              <a:solidFill>
                <a:srgbClr val="5B7068"/>
              </a:solidFill>
              <a:latin typeface="Arial"/>
              <a:ea typeface="Arial"/>
              <a:cs typeface="Arial"/>
            </a:endParaRPr>
          </a:p>
        </p:txBody>
      </p:sp>
      <p:sp>
        <p:nvSpPr>
          <p:cNvPr id="3" name="Artist history is the strongest obs">
            <a:extLst xmlns:a="http://schemas.openxmlformats.org/drawingml/2006/main">
              <a:ext uri="{FF2B5EF4-FFF2-40B4-BE49-F238E27FC236}">
                <a16:creationId xmlns:a16="http://schemas.microsoft.com/office/drawing/2014/main" id="{E9F1795A-4E76-491B-932F-DAB64B5207A2}"/>
              </a:ext>
            </a:extLst>
          </p:cNvPr>
          <p:cNvSpPr>
            <a:spLocks xmlns:a="http://schemas.openxmlformats.org/drawingml/2006/main" noGrp="1"/>
          </p:cNvSpPr>
          <p:nvPr/>
        </p:nvSpPr>
        <p:spPr>
          <a:xfrm xmlns:a="http://schemas.openxmlformats.org/drawingml/2006/main">
            <a:off x="609600" y="1524000"/>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150" b="1">
                <a:solidFill>
                  <a:srgbClr val="087F70"/>
                </a:solidFill>
                <a:latin typeface="Arial"/>
                <a:ea typeface="Arial"/>
                <a:cs typeface="Arial"/>
              </a:defRPr>
            </a:pPr>
            <a:r>
              <a:rPr sz="3150" b="1">
                <a:solidFill>
                  <a:srgbClr val="087F70"/>
                </a:solidFill>
                <a:latin typeface="Arial"/>
                <a:ea typeface="Arial"/>
                <a:cs typeface="Arial"/>
              </a:rPr>
              <a:t>Artist history is the strongest observed signal</a:t>
            </a:r>
          </a:p>
        </p:txBody>
      </p:sp>
      <p:sp>
        <p:nvSpPr>
          <p:cNvPr id="4" name="79.20% held-out accuracy for the se">
            <a:extLst xmlns:a="http://schemas.openxmlformats.org/drawingml/2006/main">
              <a:ext uri="{FF2B5EF4-FFF2-40B4-BE49-F238E27FC236}">
                <a16:creationId xmlns:a16="http://schemas.microsoft.com/office/drawing/2014/main" id="{197D1326-6BF6-4E70-B20E-F95F6EC0B903}"/>
              </a:ext>
            </a:extLst>
          </p:cNvPr>
          <p:cNvSpPr>
            <a:spLocks xmlns:a="http://schemas.openxmlformats.org/drawingml/2006/main" noGrp="1"/>
          </p:cNvSpPr>
          <p:nvPr/>
        </p:nvSpPr>
        <p:spPr>
          <a:xfrm xmlns:a="http://schemas.openxmlformats.org/drawingml/2006/main">
            <a:off x="609600" y="2771775"/>
            <a:ext cx="107156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15382F"/>
                </a:solidFill>
                <a:latin typeface="Arial"/>
                <a:ea typeface="Arial"/>
                <a:cs typeface="Arial"/>
              </a:defRPr>
            </a:pPr>
            <a:r>
              <a:rPr sz="2325" b="0">
                <a:solidFill>
                  <a:srgbClr val="15382F"/>
                </a:solidFill>
                <a:latin typeface="Arial"/>
                <a:ea typeface="Arial"/>
                <a:cs typeface="Arial"/>
              </a:rPr>
              <a:t>82.48% recorded accuracy for the selected forest</a:t>
            </a:r>
          </a:p>
          <a:p xmlns:a="http://schemas.openxmlformats.org/drawingml/2006/main">
            <a:pPr>
              <a:buNone/>
              <a:defRPr sz="2325" b="0">
                <a:solidFill>
                  <a:srgbClr val="15382F"/>
                </a:solidFill>
                <a:latin typeface="Arial"/>
                <a:ea typeface="Arial"/>
                <a:cs typeface="Arial"/>
              </a:defRPr>
            </a:pPr>
            <a:r>
              <a:rPr sz="2325" b="0">
                <a:solidFill>
                  <a:srgbClr val="15382F"/>
                </a:solidFill>
                <a:latin typeface="Arial"/>
                <a:ea typeface="Arial"/>
                <a:cs typeface="Arial"/>
              </a:rPr>
              <a:t>Artist Score improves every evaluated classifier</a:t>
            </a:r>
            <a:endParaRPr sz="2325" b="0">
              <a:solidFill>
                <a:srgbClr val="15382F"/>
              </a:solidFill>
              <a:latin typeface="Arial"/>
              <a:ea typeface="Arial"/>
              <a:cs typeface="Arial"/>
            </a:endParaRPr>
          </a:p>
        </p:txBody>
      </p:sp>
      <p:sp>
        <p:nvSpPr>
          <p:cNvPr id="5" name="Current limits">
            <a:extLst xmlns:a="http://schemas.openxmlformats.org/drawingml/2006/main">
              <a:ext uri="{FF2B5EF4-FFF2-40B4-BE49-F238E27FC236}">
                <a16:creationId xmlns:a16="http://schemas.microsoft.com/office/drawing/2014/main" id="{CE2BA6EC-82A6-44C8-91C8-63A42E744716}"/>
              </a:ext>
            </a:extLst>
          </p:cNvPr>
          <p:cNvSpPr>
            <a:spLocks xmlns:a="http://schemas.openxmlformats.org/drawingml/2006/main" noGrp="1"/>
          </p:cNvSpPr>
          <p:nvPr/>
        </p:nvSpPr>
        <p:spPr>
          <a:xfrm xmlns:a="http://schemas.openxmlformats.org/drawingml/2006/main">
            <a:off x="609600" y="430530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15382F"/>
                </a:solidFill>
                <a:latin typeface="Arial"/>
                <a:ea typeface="Arial"/>
                <a:cs typeface="Arial"/>
              </a:defRPr>
            </a:pPr>
            <a:r>
              <a:rPr sz="2175" b="1">
                <a:solidFill>
                  <a:srgbClr val="15382F"/>
                </a:solidFill>
                <a:latin typeface="Arial"/>
                <a:ea typeface="Arial"/>
                <a:cs typeface="Arial"/>
              </a:rPr>
              <a:t>Current limits</a:t>
            </a:r>
          </a:p>
        </p:txBody>
      </p:sp>
      <p:sp>
        <p:nvSpPr>
          <p:cNvPr id="6" name="Exact-match coverage and approximat">
            <a:extLst xmlns:a="http://schemas.openxmlformats.org/drawingml/2006/main">
              <a:ext uri="{FF2B5EF4-FFF2-40B4-BE49-F238E27FC236}">
                <a16:creationId xmlns:a16="http://schemas.microsoft.com/office/drawing/2014/main" id="{31BF2BD2-530D-4D7F-B9D6-09387D15C3A3}"/>
              </a:ext>
            </a:extLst>
          </p:cNvPr>
          <p:cNvSpPr>
            <a:spLocks xmlns:a="http://schemas.openxmlformats.org/drawingml/2006/main" noGrp="1"/>
          </p:cNvSpPr>
          <p:nvPr/>
        </p:nvSpPr>
        <p:spPr>
          <a:xfrm xmlns:a="http://schemas.openxmlformats.org/drawingml/2006/main">
            <a:off x="609600" y="4848225"/>
            <a:ext cx="51244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5B7068"/>
                </a:solidFill>
                <a:latin typeface="Arial"/>
                <a:ea typeface="Arial"/>
                <a:cs typeface="Arial"/>
              </a:defRPr>
            </a:pPr>
            <a:r>
              <a:rPr sz="1875" b="0">
                <a:solidFill>
                  <a:srgbClr val="5B7068"/>
                </a:solidFill>
                <a:latin typeface="Arial"/>
                <a:ea typeface="Arial"/>
                <a:cs typeface="Arial"/>
              </a:rPr>
              <a:t>Exact-match coverage and approximate dates</a:t>
            </a:r>
          </a:p>
          <a:p xmlns:a="http://schemas.openxmlformats.org/drawingml/2006/main">
            <a:pPr>
              <a:buNone/>
              <a:defRPr sz="1875" b="0">
                <a:solidFill>
                  <a:srgbClr val="5B7068"/>
                </a:solidFill>
                <a:latin typeface="Arial"/>
                <a:ea typeface="Arial"/>
                <a:cs typeface="Arial"/>
              </a:defRPr>
            </a:pPr>
            <a:r>
              <a:rPr sz="1875" b="0">
                <a:solidFill>
                  <a:srgbClr val="5B7068"/>
                </a:solidFill>
                <a:latin typeface="Arial"/>
                <a:ea typeface="Arial"/>
                <a:cs typeface="Arial"/>
              </a:rPr>
              <a:t>Balanced data and limited audio features</a:t>
            </a:r>
          </a:p>
        </p:txBody>
      </p:sp>
      <p:sp>
        <p:nvSpPr>
          <p:cNvPr id="7" name="Next steps">
            <a:extLst xmlns:a="http://schemas.openxmlformats.org/drawingml/2006/main">
              <a:ext uri="{FF2B5EF4-FFF2-40B4-BE49-F238E27FC236}">
                <a16:creationId xmlns:a16="http://schemas.microsoft.com/office/drawing/2014/main" id="{B1EB1BCA-7A53-4BEE-A9DD-54CD80D98175}"/>
              </a:ext>
            </a:extLst>
          </p:cNvPr>
          <p:cNvSpPr>
            <a:spLocks xmlns:a="http://schemas.openxmlformats.org/drawingml/2006/main" noGrp="1"/>
          </p:cNvSpPr>
          <p:nvPr/>
        </p:nvSpPr>
        <p:spPr>
          <a:xfrm xmlns:a="http://schemas.openxmlformats.org/drawingml/2006/main">
            <a:off x="6686550" y="430530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15382F"/>
                </a:solidFill>
                <a:latin typeface="Arial"/>
                <a:ea typeface="Arial"/>
                <a:cs typeface="Arial"/>
              </a:defRPr>
            </a:pPr>
            <a:r>
              <a:rPr sz="2175" b="1">
                <a:solidFill>
                  <a:srgbClr val="15382F"/>
                </a:solidFill>
                <a:latin typeface="Arial"/>
                <a:ea typeface="Arial"/>
                <a:cs typeface="Arial"/>
              </a:rPr>
              <a:t>Next steps</a:t>
            </a:r>
          </a:p>
        </p:txBody>
      </p:sp>
      <p:sp>
        <p:nvSpPr>
          <p:cNvPr id="8" name="Verify sources and improve song mat">
            <a:extLst xmlns:a="http://schemas.openxmlformats.org/drawingml/2006/main">
              <a:ext uri="{FF2B5EF4-FFF2-40B4-BE49-F238E27FC236}">
                <a16:creationId xmlns:a16="http://schemas.microsoft.com/office/drawing/2014/main" id="{39E99E66-FEA6-4C04-B603-EEFA1E4D31DC}"/>
              </a:ext>
            </a:extLst>
          </p:cNvPr>
          <p:cNvSpPr>
            <a:spLocks xmlns:a="http://schemas.openxmlformats.org/drawingml/2006/main" noGrp="1"/>
          </p:cNvSpPr>
          <p:nvPr/>
        </p:nvSpPr>
        <p:spPr>
          <a:xfrm xmlns:a="http://schemas.openxmlformats.org/drawingml/2006/main">
            <a:off x="6686550" y="4848225"/>
            <a:ext cx="4857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5B7068"/>
                </a:solidFill>
                <a:latin typeface="Arial"/>
                <a:ea typeface="Arial"/>
                <a:cs typeface="Arial"/>
              </a:defRPr>
            </a:pPr>
            <a:r>
              <a:rPr sz="1875" b="0">
                <a:solidFill>
                  <a:srgbClr val="5B7068"/>
                </a:solidFill>
                <a:latin typeface="Arial"/>
                <a:ea typeface="Arial"/>
                <a:cs typeface="Arial"/>
              </a:rPr>
              <a:t>Verify sources and improve song matching</a:t>
            </a:r>
          </a:p>
          <a:p xmlns:a="http://schemas.openxmlformats.org/drawingml/2006/main">
            <a:pPr>
              <a:buNone/>
              <a:defRPr sz="1875" b="0">
                <a:solidFill>
                  <a:srgbClr val="5B7068"/>
                </a:solidFill>
                <a:latin typeface="Arial"/>
                <a:ea typeface="Arial"/>
                <a:cs typeface="Arial"/>
              </a:defRPr>
            </a:pPr>
            <a:r>
              <a:rPr sz="1875" b="0">
                <a:solidFill>
                  <a:srgbClr val="5B7068"/>
                </a:solidFill>
                <a:latin typeface="Arial"/>
                <a:ea typeface="Arial"/>
                <a:cs typeface="Arial"/>
              </a:rPr>
              <a:t>Add richer features known before prediction</a:t>
            </a:r>
          </a:p>
          <a:p xmlns:a="http://schemas.openxmlformats.org/drawingml/2006/main">
            <a:pPr>
              <a:buNone/>
              <a:defRPr sz="1875" b="0">
                <a:solidFill>
                  <a:srgbClr val="5B7068"/>
                </a:solidFill>
                <a:latin typeface="Arial"/>
                <a:ea typeface="Arial"/>
                <a:cs typeface="Arial"/>
              </a:defRPr>
            </a:pPr>
            <a:r>
              <a:rPr sz="1875" b="0">
                <a:solidFill>
                  <a:srgbClr val="5B7068"/>
                </a:solidFill>
                <a:latin typeface="Arial"/>
                <a:ea typeface="Arial"/>
                <a:cs typeface="Arial"/>
              </a:rPr>
              <a:t>Evaluate on a fresh chronological test set</a:t>
            </a:r>
            <a:endParaRPr sz="1875" b="0">
              <a:solidFill>
                <a:srgbClr val="5B7068"/>
              </a:solidFill>
              <a:latin typeface="Arial"/>
              <a:ea typeface="Arial"/>
              <a:cs typeface="Arial"/>
            </a:endParaRPr>
          </a:p>
        </p:txBody>
      </p:sp>
    </p:spTree>
    <p:extLst>
      <p:ext uri="{BB962C8B-B14F-4D97-AF65-F5344CB8AC3E}">
        <p14:creationId xmlns:p14="http://schemas.microsoft.com/office/powerpoint/2010/main" val="1147240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Presentation</dc:title>
  <dcterms:created xsi:type="dcterms:W3CDTF">2026-10-06T20:50:32.9230000Z</dcterms:created>
  <dcterms:modified xsi:type="dcterms:W3CDTF">2026-10-06T20:50:32.9230000Z</dcterms:modified>
</coreProperties>
</file>